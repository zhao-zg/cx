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4"/>
  </p:notesMasterIdLst>
  <p:sldIdLst>
    <p:sldId id="257" r:id="rId3"/>
    <p:sldId id="272" r:id="rId4"/>
    <p:sldId id="287" r:id="rId5"/>
    <p:sldId id="290" r:id="rId6"/>
    <p:sldId id="274" r:id="rId7"/>
    <p:sldId id="291" r:id="rId8"/>
    <p:sldId id="275" r:id="rId9"/>
    <p:sldId id="292" r:id="rId10"/>
    <p:sldId id="276" r:id="rId11"/>
    <p:sldId id="293" r:id="rId12"/>
    <p:sldId id="277" r:id="rId13"/>
    <p:sldId id="294" r:id="rId14"/>
    <p:sldId id="278" r:id="rId15"/>
    <p:sldId id="295" r:id="rId16"/>
    <p:sldId id="284" r:id="rId17"/>
    <p:sldId id="296" r:id="rId18"/>
    <p:sldId id="285" r:id="rId19"/>
    <p:sldId id="297" r:id="rId20"/>
    <p:sldId id="298" r:id="rId21"/>
    <p:sldId id="299" r:id="rId22"/>
    <p:sldId id="514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99FF66"/>
    <a:srgbClr val="FFFF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73" autoAdjust="0"/>
    <p:restoredTop sz="94634" autoAdjust="0"/>
  </p:normalViewPr>
  <p:slideViewPr>
    <p:cSldViewPr snapToGrid="0">
      <p:cViewPr varScale="1">
        <p:scale>
          <a:sx n="73" d="100"/>
          <a:sy n="73" d="100"/>
        </p:scale>
        <p:origin x="122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EA680-B737-4C2A-93E0-9CFE17B2FA6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F15DD-D4F4-4F33-BE3A-EAC8BF7E56A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50747C-7594-4E56-B643-5109EBEA3E39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charset="-120"/>
                <a:cs typeface="+mn-cs"/>
              </a:r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7170" name="投影片圖像版面配置區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7171" name="備忘稿版面配置區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4" name="投影片編號版面配置區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1CE9A0-066E-40CC-9D28-99359AFC41A0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超研澤中特圓" pitchFamily="49" charset="-120"/>
                <a:cs typeface="+mn-cs"/>
              </a:r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超研澤中特圓" pitchFamily="49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投影片影像版面配置區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9218" name="備忘稿版面配置區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219" name="投影片編號版面配置區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2DCC33-6A83-45AF-8308-A4FB20B3ACAD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charset="-120"/>
                <a:cs typeface="+mn-cs"/>
              </a:r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字版面配置區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6420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F15DD-D4F4-4F33-BE3A-EAC8BF7E56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6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F15DD-D4F4-4F33-BE3A-EAC8BF7E56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18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字版面配置區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342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1" y="1"/>
            <a:ext cx="12187767" cy="6850063"/>
            <a:chOff x="0" y="0"/>
            <a:chExt cx="5758" cy="4315"/>
          </a:xfrm>
        </p:grpSpPr>
        <p:grpSp>
          <p:nvGrpSpPr>
            <p:cNvPr id="5" name="Group 3"/>
            <p:cNvGrpSpPr/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" name="Freeform 4"/>
              <p:cNvSpPr/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TW" altLang="en-US" sz="1800"/>
              </a:p>
            </p:txBody>
          </p:sp>
          <p:sp>
            <p:nvSpPr>
              <p:cNvPr id="9" name="Freeform 5"/>
              <p:cNvSpPr/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TW" altLang="en-US" sz="1800"/>
              </a:p>
            </p:txBody>
          </p:sp>
          <p:sp>
            <p:nvSpPr>
              <p:cNvPr id="10" name="Freeform 6"/>
              <p:cNvSpPr/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TW" altLang="en-US" sz="1800"/>
              </a:p>
            </p:txBody>
          </p:sp>
          <p:sp>
            <p:nvSpPr>
              <p:cNvPr id="11" name="Freeform 7"/>
              <p:cNvSpPr/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eaLnBrk="0" hangingPunct="0">
                  <a:defRPr/>
                </a:pPr>
                <a:endParaRPr kumimoji="1" lang="zh-TW" altLang="en-US" sz="1800"/>
              </a:p>
            </p:txBody>
          </p:sp>
          <p:sp>
            <p:nvSpPr>
              <p:cNvPr id="12" name="Freeform 8"/>
              <p:cNvSpPr/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TW" altLang="en-US" sz="1800"/>
              </a:p>
            </p:txBody>
          </p:sp>
        </p:grpSp>
        <p:sp>
          <p:nvSpPr>
            <p:cNvPr id="6" name="Freeform 9"/>
            <p:cNvSpPr/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TW" altLang="en-US" sz="1800"/>
            </a:p>
          </p:txBody>
        </p:sp>
        <p:sp>
          <p:nvSpPr>
            <p:cNvPr id="7" name="Freeform 10"/>
            <p:cNvSpPr/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8 h 1906"/>
                <a:gd name="T4" fmla="*/ 6345 w 5740"/>
                <a:gd name="T5" fmla="*/ 198 h 1906"/>
                <a:gd name="T6" fmla="*/ 6345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eaLnBrk="0" hangingPunct="0">
                <a:defRPr/>
              </a:pPr>
              <a:endParaRPr kumimoji="1" lang="zh-TW" altLang="en-US" sz="1800"/>
            </a:p>
          </p:txBody>
        </p:sp>
      </p:grpSp>
      <p:sp>
        <p:nvSpPr>
          <p:cNvPr id="513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36726"/>
            <a:ext cx="103632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5157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5475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87AC914-DD62-4BFB-9A1A-549147D218F2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3EA0AA-DE6A-412D-81B7-92FE696291D0}" type="slidenum">
              <a:rPr lang="en-US" altLang="zh-TW"/>
              <a:t>‹#›</a:t>
            </a:fld>
            <a:endParaRPr lang="en-US" altLang="zh-TW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56DC3A-B9CD-4823-AFEA-B9D0DF87017D}" type="slidenum">
              <a:rPr lang="en-US" altLang="zh-TW"/>
              <a:t>‹#›</a:t>
            </a:fld>
            <a:endParaRPr lang="en-US" altLang="zh-TW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CBCF7FC-8D7E-493E-AB2D-EF89DCCFA3E6}" type="slidenum">
              <a:rPr lang="en-US" altLang="zh-TW"/>
              <a:t>‹#›</a:t>
            </a:fld>
            <a:endParaRPr lang="en-US" altLang="zh-TW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723DE5-1B3E-4426-B38C-430DC2C1CE68}" type="slidenum">
              <a:rPr lang="en-US" altLang="zh-TW"/>
              <a:t>‹#›</a:t>
            </a:fld>
            <a:endParaRPr lang="en-US" altLang="zh-TW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B03A1A-31B1-4D01-BEF6-ED539BD8DA0E}" type="slidenum">
              <a:rPr lang="en-US" altLang="zh-TW"/>
              <a:t>‹#›</a:t>
            </a:fld>
            <a:endParaRPr lang="en-US" altLang="zh-TW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E2C23B-DD8E-4BB0-BFB3-D7015BBDA5D1}" type="slidenum">
              <a:rPr lang="en-US" altLang="zh-TW"/>
              <a:t>‹#›</a:t>
            </a:fld>
            <a:endParaRPr lang="en-US" altLang="zh-TW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D2BBAF3-0EFB-486C-8EF6-3C1FF8D493C4}" type="slidenum">
              <a:rPr lang="en-US" altLang="zh-TW"/>
              <a:t>‹#›</a:t>
            </a:fld>
            <a:endParaRPr lang="en-US" altLang="zh-TW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9B82EA0-0F58-4BD6-B4A1-81743BF5B8E8}" type="slidenum">
              <a:rPr lang="en-US" altLang="zh-TW"/>
              <a:t>‹#›</a:t>
            </a:fld>
            <a:endParaRPr lang="en-US" altLang="zh-TW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BCB4EF-3A88-4F93-ADB3-B6DFD471F918}" type="slidenum">
              <a:rPr lang="en-US" altLang="zh-TW"/>
              <a:t>‹#›</a:t>
            </a:fld>
            <a:endParaRPr lang="en-US" altLang="zh-TW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85366AE-9806-4067-BBDE-3FDAB453853C}" type="slidenum">
              <a:rPr lang="en-US" altLang="zh-TW"/>
              <a:t>‹#›</a:t>
            </a:fld>
            <a:endParaRPr lang="en-US" altLang="zh-TW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3" y="5"/>
            <a:ext cx="12187767" cy="6850063"/>
            <a:chOff x="0" y="0"/>
            <a:chExt cx="5758" cy="4315"/>
          </a:xfrm>
        </p:grpSpPr>
        <p:grpSp>
          <p:nvGrpSpPr>
            <p:cNvPr id="5" name="Group 3"/>
            <p:cNvGrpSpPr/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" name="Freeform 4"/>
              <p:cNvSpPr/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TW" altLang="en-US" sz="1800"/>
              </a:p>
            </p:txBody>
          </p:sp>
          <p:sp>
            <p:nvSpPr>
              <p:cNvPr id="9" name="Freeform 5"/>
              <p:cNvSpPr/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TW" altLang="en-US" sz="1800"/>
              </a:p>
            </p:txBody>
          </p:sp>
          <p:sp>
            <p:nvSpPr>
              <p:cNvPr id="10" name="Freeform 6"/>
              <p:cNvSpPr/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TW" altLang="en-US" sz="1800"/>
              </a:p>
            </p:txBody>
          </p:sp>
          <p:sp>
            <p:nvSpPr>
              <p:cNvPr id="11" name="Freeform 7"/>
              <p:cNvSpPr>
                <a:spLocks noChangeArrowheads="1"/>
              </p:cNvSpPr>
              <p:nvPr/>
            </p:nvSpPr>
            <p:spPr bwMode="auto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2" name="Freeform 8"/>
              <p:cNvSpPr/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TW" altLang="en-US" sz="1800"/>
              </a:p>
            </p:txBody>
          </p:sp>
        </p:grpSp>
        <p:sp>
          <p:nvSpPr>
            <p:cNvPr id="6" name="Freeform 9"/>
            <p:cNvSpPr/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1" lang="zh-TW" altLang="en-US" sz="1800"/>
            </a:p>
          </p:txBody>
        </p:sp>
        <p:sp>
          <p:nvSpPr>
            <p:cNvPr id="7" name="Freeform 10"/>
            <p:cNvSpPr>
              <a:spLocks noChangeArrowheads="1"/>
            </p:cNvSpPr>
            <p:nvPr/>
          </p:nvSpPr>
          <p:spPr bwMode="auto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542 h 1906"/>
                <a:gd name="T4" fmla="*/ 5794 w 5740"/>
                <a:gd name="T5" fmla="*/ 1542 h 1906"/>
                <a:gd name="T6" fmla="*/ 5794 w 5740"/>
                <a:gd name="T7" fmla="*/ 0 h 1906"/>
                <a:gd name="T8" fmla="*/ 0 w 5740"/>
                <a:gd name="T9" fmla="*/ 0 h 19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155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36730"/>
            <a:ext cx="103632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5157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5475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74029-3828-4B8D-9946-64F52A9DCC22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0478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B1369-CC0E-48EF-AB0E-A393892B3A92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58085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8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B3882-13EA-4E85-AFB3-18B2B6FD1F9E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1457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E93765-5D2B-42D1-B2E8-73FA67153822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32028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9"/>
            <a:ext cx="10515600" cy="1325563"/>
          </a:xfrm>
        </p:spPr>
        <p:txBody>
          <a:bodyPr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179E2-76B5-497C-9DBE-CAD64E228603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sp>
        <p:nvSpPr>
          <p:cNvPr id="9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36998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8C47-ED87-4589-B4EE-EB74A10AADA7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86176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3F794-A221-4D92-8FA3-9385B0EECA81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406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2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21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6C4FB-D0FC-4177-810F-6EF155BDE4BC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04202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2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21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noProof="1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03493-54D4-4B10-8F24-BCD593798BFB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35899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FFA05-2645-43FF-BECF-B5BCDEA3D3E0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478687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7D9D9-176E-47DE-84E5-5505275B87A6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36856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5157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fld id="{5113AD9A-C2DA-476F-A737-21CF0AB02788}" type="slidenum">
              <a:rPr lang="en-US" altLang="zh-TW"/>
              <a:t>‹#›</a:t>
            </a:fld>
            <a:endParaRPr lang="en-US" altLang="zh-TW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1" y="1"/>
            <a:ext cx="12187767" cy="6850063"/>
            <a:chOff x="0" y="0"/>
            <a:chExt cx="5758" cy="4315"/>
          </a:xfrm>
        </p:grpSpPr>
        <p:grpSp>
          <p:nvGrpSpPr>
            <p:cNvPr id="1029" name="Group 5"/>
            <p:cNvGrpSpPr/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102" name="Freeform 6"/>
              <p:cNvSpPr/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TW" altLang="en-US" sz="1800"/>
              </a:p>
            </p:txBody>
          </p:sp>
          <p:sp>
            <p:nvSpPr>
              <p:cNvPr id="4103" name="Freeform 7"/>
              <p:cNvSpPr/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TW" altLang="en-US" sz="1800"/>
              </a:p>
            </p:txBody>
          </p:sp>
          <p:sp>
            <p:nvSpPr>
              <p:cNvPr id="4104" name="Freeform 8"/>
              <p:cNvSpPr/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TW" altLang="en-US" sz="1800"/>
              </a:p>
            </p:txBody>
          </p:sp>
          <p:sp>
            <p:nvSpPr>
              <p:cNvPr id="1038" name="Freeform 9"/>
              <p:cNvSpPr/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eaLnBrk="0" hangingPunct="0">
                  <a:defRPr/>
                </a:pPr>
                <a:endParaRPr kumimoji="1" lang="zh-TW" altLang="en-US" sz="1800"/>
              </a:p>
            </p:txBody>
          </p:sp>
          <p:sp>
            <p:nvSpPr>
              <p:cNvPr id="4106" name="Freeform 10"/>
              <p:cNvSpPr/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kumimoji="1" lang="zh-TW" altLang="en-US" sz="1800"/>
              </a:p>
            </p:txBody>
          </p:sp>
        </p:grpSp>
        <p:sp>
          <p:nvSpPr>
            <p:cNvPr id="4107" name="Freeform 11"/>
            <p:cNvSpPr/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kumimoji="1" lang="zh-TW" altLang="en-US" sz="1800"/>
            </a:p>
          </p:txBody>
        </p:sp>
        <p:sp>
          <p:nvSpPr>
            <p:cNvPr id="1034" name="Freeform 12"/>
            <p:cNvSpPr/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8 h 1906"/>
                <a:gd name="T4" fmla="*/ 6345 w 5740"/>
                <a:gd name="T5" fmla="*/ 198 h 1906"/>
                <a:gd name="T6" fmla="*/ 6345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eaLnBrk="0" hangingPunct="0">
                <a:defRPr/>
              </a:pPr>
              <a:endParaRPr kumimoji="1" lang="zh-TW" altLang="en-US" sz="1800"/>
            </a:p>
          </p:txBody>
        </p:sp>
      </p:grpSp>
      <p:sp>
        <p:nvSpPr>
          <p:cNvPr id="410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noProof="1"/>
              <a:t>按一下以編輯母片標題樣式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noProof="1"/>
              <a:t>按一下以編輯母片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新細明體" panose="02020500000000000000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新細明體" panose="02020500000000000000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新細明體" panose="02020500000000000000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新細明體" panose="02020500000000000000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新細明體" panose="02020500000000000000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新細明體" panose="02020500000000000000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5157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AB0746C-FE44-4980-8406-19E3D04A9591}" type="slidenum">
              <a:rPr lang="en-US" altLang="zh-TW"/>
              <a:t>‹#›</a:t>
            </a:fld>
            <a:endParaRPr lang="en-US" altLang="zh-TW">
              <a:latin typeface="Garamond" panose="02020404030301010803" pitchFamily="18" charset="0"/>
            </a:endParaRPr>
          </a:p>
        </p:txBody>
      </p:sp>
      <p:grpSp>
        <p:nvGrpSpPr>
          <p:cNvPr id="7172" name="Group 4"/>
          <p:cNvGrpSpPr/>
          <p:nvPr/>
        </p:nvGrpSpPr>
        <p:grpSpPr bwMode="auto">
          <a:xfrm>
            <a:off x="3" y="5"/>
            <a:ext cx="12187767" cy="6850063"/>
            <a:chOff x="0" y="0"/>
            <a:chExt cx="5758" cy="4315"/>
          </a:xfrm>
        </p:grpSpPr>
        <p:grpSp>
          <p:nvGrpSpPr>
            <p:cNvPr id="7176" name="Group 5"/>
            <p:cNvGrpSpPr/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126" name="Freeform 6"/>
              <p:cNvSpPr/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TW" altLang="en-US" sz="1800"/>
              </a:p>
            </p:txBody>
          </p:sp>
          <p:sp>
            <p:nvSpPr>
              <p:cNvPr id="5127" name="Freeform 7"/>
              <p:cNvSpPr/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TW" altLang="en-US" sz="1800"/>
              </a:p>
            </p:txBody>
          </p:sp>
          <p:sp>
            <p:nvSpPr>
              <p:cNvPr id="5128" name="Freeform 8"/>
              <p:cNvSpPr/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TW" altLang="en-US" sz="1800"/>
              </a:p>
            </p:txBody>
          </p:sp>
          <p:sp>
            <p:nvSpPr>
              <p:cNvPr id="7182" name="Freeform 9"/>
              <p:cNvSpPr>
                <a:spLocks noChangeArrowheads="1"/>
              </p:cNvSpPr>
              <p:nvPr/>
            </p:nvSpPr>
            <p:spPr bwMode="auto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30" name="Freeform 10"/>
              <p:cNvSpPr/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TW" altLang="en-US" sz="1800"/>
              </a:p>
            </p:txBody>
          </p:sp>
        </p:grpSp>
        <p:sp>
          <p:nvSpPr>
            <p:cNvPr id="5131" name="Freeform 11"/>
            <p:cNvSpPr/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kumimoji="1" lang="zh-TW" altLang="en-US" sz="1800"/>
            </a:p>
          </p:txBody>
        </p:sp>
        <p:sp>
          <p:nvSpPr>
            <p:cNvPr id="7178" name="Freeform 12"/>
            <p:cNvSpPr>
              <a:spLocks noChangeArrowheads="1"/>
            </p:cNvSpPr>
            <p:nvPr/>
          </p:nvSpPr>
          <p:spPr bwMode="auto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542 h 1906"/>
                <a:gd name="T4" fmla="*/ 5794 w 5740"/>
                <a:gd name="T5" fmla="*/ 1542 h 1906"/>
                <a:gd name="T6" fmla="*/ 5794 w 5740"/>
                <a:gd name="T7" fmla="*/ 0 h 1906"/>
                <a:gd name="T8" fmla="*/ 0 w 5740"/>
                <a:gd name="T9" fmla="*/ 0 h 19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5133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noProof="1"/>
              <a:t>按一下以編輯母片標題樣式</a:t>
            </a:r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5"/>
            <a:ext cx="10972800" cy="4525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noProof="1"/>
              <a:t>按一下以編輯母片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6348713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新細明體" panose="02020500000000000000" pitchFamily="18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新細明體" panose="02020500000000000000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新細明體" panose="02020500000000000000" pitchFamily="18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新細明體" panose="02020500000000000000" pitchFamily="18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新細明體" panose="02020500000000000000" pitchFamily="18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新細明體" panose="02020500000000000000" pitchFamily="18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5"/>
            <a:ext cx="12192000" cy="6813550"/>
          </a:xfrm>
          <a:prstGeom prst="rect">
            <a:avLst/>
          </a:prstGeom>
        </p:spPr>
      </p:pic>
      <p:sp>
        <p:nvSpPr>
          <p:cNvPr id="205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379662" y="800164"/>
            <a:ext cx="7483475" cy="152240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TW" altLang="en-US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秋季長老同工訓練</a:t>
            </a:r>
            <a:r>
              <a:rPr kumimoji="1" lang="en-US" altLang="zh-TW" sz="4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672904" y="1975601"/>
            <a:ext cx="10846191" cy="1682750"/>
          </a:xfrm>
        </p:spPr>
        <p:txBody>
          <a:bodyPr/>
          <a:lstStyle/>
          <a:p>
            <a:pPr marL="0" indent="0" algn="ctr" eaLnBrk="1" hangingPunct="1">
              <a:lnSpc>
                <a:spcPct val="145000"/>
              </a:lnSpc>
              <a:buNone/>
              <a:defRPr/>
            </a:pPr>
            <a:r>
              <a:rPr kumimoji="1" lang="zh-TW" altLang="en-US" sz="4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總 題</a:t>
            </a:r>
            <a:endParaRPr kumimoji="1" lang="zh-TW" altLang="en-US" sz="2800" b="1" dirty="0">
              <a:solidFill>
                <a:srgbClr val="00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</a:endParaRPr>
          </a:p>
          <a:p>
            <a:pPr marL="0" indent="0" algn="ctr" eaLnBrk="1" latinLnBrk="0" hangingPunct="1">
              <a:lnSpc>
                <a:spcPts val="5000"/>
              </a:lnSpc>
              <a:spcBef>
                <a:spcPts val="1800"/>
              </a:spcBef>
              <a:buNone/>
              <a:defRPr/>
            </a:pPr>
            <a:r>
              <a:rPr kumimoji="1" lang="zh-TW" altLang="en-US" sz="44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亞伯拉罕、以撒、雅各的神</a:t>
            </a:r>
            <a:endParaRPr kumimoji="1" lang="en-US" altLang="zh-TW" sz="44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</a:endParaRPr>
          </a:p>
          <a:p>
            <a:pPr marL="0" indent="0" algn="ctr" eaLnBrk="1" latinLnBrk="0" hangingPunct="1">
              <a:lnSpc>
                <a:spcPts val="5000"/>
              </a:lnSpc>
              <a:spcBef>
                <a:spcPts val="1800"/>
              </a:spcBef>
              <a:buNone/>
              <a:defRPr/>
            </a:pPr>
            <a:r>
              <a:rPr kumimoji="1"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綱目要點</a:t>
            </a:r>
            <a:endParaRPr kumimoji="1" lang="zh-TW" altLang="en-US" sz="6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</a:endParaRPr>
          </a:p>
          <a:p>
            <a:pPr marL="0" indent="0" algn="ctr" eaLnBrk="1" latinLnBrk="0" hangingPunct="1">
              <a:lnSpc>
                <a:spcPts val="4300"/>
              </a:lnSpc>
              <a:spcBef>
                <a:spcPts val="1800"/>
              </a:spcBef>
              <a:buNone/>
              <a:defRPr/>
            </a:pPr>
            <a:endParaRPr kumimoji="1" lang="zh-TW" altLang="en-US" sz="6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4141470" y="368069"/>
            <a:ext cx="390906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sz="4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二○二</a:t>
            </a: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8367568" y="5588661"/>
            <a:ext cx="28797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TW" sz="20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Builder Hsu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922318" y="537834"/>
            <a:ext cx="9071263" cy="6073275"/>
          </a:xfrm>
        </p:spPr>
        <p:txBody>
          <a:bodyPr/>
          <a:lstStyle/>
          <a:p>
            <a:pPr marL="1276350" indent="-1276350" algn="ctr" eaLnBrk="1" latinLnBrk="0" hangingPunct="1">
              <a:lnSpc>
                <a:spcPts val="296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36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各篇篇題</a:t>
            </a:r>
            <a:endParaRPr kumimoji="1" lang="zh-TW" altLang="en-US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  <a:p>
            <a:pPr marL="1339850" indent="-1339850" eaLnBrk="1" hangingPunct="1">
              <a:lnSpc>
                <a:spcPts val="3600"/>
              </a:lnSpc>
              <a:spcBef>
                <a:spcPts val="2400"/>
              </a:spcBef>
              <a:spcAft>
                <a:spcPts val="0"/>
              </a:spcAft>
              <a:buNone/>
              <a:defRPr/>
            </a:pPr>
            <a:r>
              <a:rPr kumimoji="1" lang="zh-TW" altLang="en-US" sz="26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第一篇　</a:t>
            </a:r>
            <a:r>
              <a:rPr kumimoji="1"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認識並經歷亞伯拉罕的神、以撒的神和雅各的神，而成為神的以色列</a:t>
            </a:r>
          </a:p>
          <a:p>
            <a:pPr marL="1339850" indent="-1339850" eaLnBrk="1" hangingPunct="1">
              <a:lnSpc>
                <a:spcPts val="36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6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第二篇　</a:t>
            </a:r>
            <a:r>
              <a:rPr kumimoji="1"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亞伯拉罕的神見於祂對待亞伯拉罕的事</a:t>
            </a:r>
            <a:endParaRPr kumimoji="1"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  <a:p>
            <a:pPr marL="1339850" indent="-1339850" eaLnBrk="1" hangingPunct="1">
              <a:lnSpc>
                <a:spcPts val="36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6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第三篇　</a:t>
            </a:r>
            <a:r>
              <a:rPr kumimoji="1"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兩個婦人的寓意</a:t>
            </a:r>
            <a:endParaRPr kumimoji="1" lang="en-US" altLang="zh-TW" sz="26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  <a:p>
            <a:pPr marL="1339850" indent="-1339850" eaLnBrk="1" hangingPunct="1">
              <a:lnSpc>
                <a:spcPts val="36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6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第四篇　</a:t>
            </a:r>
            <a:r>
              <a:rPr kumimoji="1"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獻上以撒並經歷神是叫死人復活的神</a:t>
            </a:r>
            <a:endParaRPr kumimoji="1"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  <a:p>
            <a:pPr marL="1339850" indent="-1339850" eaLnBrk="1" hangingPunct="1">
              <a:lnSpc>
                <a:spcPts val="36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6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第五篇　</a:t>
            </a:r>
            <a:r>
              <a:rPr kumimoji="1"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過享受恩典的生活，使神喜悦</a:t>
            </a:r>
            <a:endParaRPr kumimoji="1"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  <a:p>
            <a:pPr marL="1339850" indent="-1339850" eaLnBrk="1" hangingPunct="1">
              <a:lnSpc>
                <a:spcPts val="36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6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第六篇　</a:t>
            </a:r>
            <a:r>
              <a:rPr kumimoji="1"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伯特利的夢</a:t>
            </a:r>
            <a:endParaRPr kumimoji="1"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  <a:p>
            <a:pPr marL="1339850" indent="-1339850" eaLnBrk="1" hangingPunct="1">
              <a:lnSpc>
                <a:spcPts val="36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6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第七篇　</a:t>
            </a:r>
            <a:r>
              <a:rPr kumimoji="1"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蒙揀選，受對付，被破碎</a:t>
            </a:r>
            <a:endParaRPr kumimoji="1"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  <a:p>
            <a:pPr marL="1339850" indent="-1339850" eaLnBrk="1" hangingPunct="1">
              <a:lnSpc>
                <a:spcPts val="36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6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第八篇　</a:t>
            </a:r>
            <a:r>
              <a:rPr kumimoji="1"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成熟的過程</a:t>
            </a:r>
            <a:endParaRPr kumimoji="1"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  <a:p>
            <a:pPr marL="1339850" indent="-1339850" eaLnBrk="1" hangingPunct="1">
              <a:lnSpc>
                <a:spcPts val="36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6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第九篇</a:t>
            </a:r>
            <a:r>
              <a:rPr kumimoji="1"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    祝福</a:t>
            </a:r>
            <a:endParaRPr kumimoji="1"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91782E2-BF94-B6F6-E76E-4B5CB21B56F3}"/>
              </a:ext>
            </a:extLst>
          </p:cNvPr>
          <p:cNvSpPr txBox="1"/>
          <p:nvPr/>
        </p:nvSpPr>
        <p:spPr>
          <a:xfrm>
            <a:off x="822613" y="1236519"/>
            <a:ext cx="820881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前言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BEC0CBA-04E9-9934-1136-DA8BA61847E2}"/>
              </a:ext>
            </a:extLst>
          </p:cNvPr>
          <p:cNvSpPr txBox="1"/>
          <p:nvPr/>
        </p:nvSpPr>
        <p:spPr>
          <a:xfrm>
            <a:off x="961159" y="2168237"/>
            <a:ext cx="543791" cy="1477328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zh-TW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亞伯拉罕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9CF4488-5D9C-85B8-B28D-628B938A8331}"/>
              </a:ext>
            </a:extLst>
          </p:cNvPr>
          <p:cNvSpPr txBox="1"/>
          <p:nvPr/>
        </p:nvSpPr>
        <p:spPr>
          <a:xfrm>
            <a:off x="791442" y="3817836"/>
            <a:ext cx="820881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以撒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ECD31CB-61E6-B2CE-C6F0-A0BB8DFB0393}"/>
              </a:ext>
            </a:extLst>
          </p:cNvPr>
          <p:cNvSpPr txBox="1"/>
          <p:nvPr/>
        </p:nvSpPr>
        <p:spPr>
          <a:xfrm>
            <a:off x="961159" y="4536086"/>
            <a:ext cx="474519" cy="174406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endParaRPr lang="en-US" altLang="zh-TW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ts val="2500"/>
              </a:lnSpc>
            </a:pPr>
            <a:r>
              <a:rPr lang="zh-TW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雅</a:t>
            </a:r>
            <a:endParaRPr lang="en-US" altLang="zh-TW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ts val="2500"/>
              </a:lnSpc>
            </a:pPr>
            <a:endParaRPr lang="en-US" altLang="zh-TW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ts val="2500"/>
              </a:lnSpc>
            </a:pPr>
            <a:r>
              <a:rPr lang="zh-TW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各</a:t>
            </a:r>
            <a:endParaRPr lang="en-US" altLang="zh-TW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zh-TW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0" y="-251"/>
            <a:ext cx="9805182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indent="-893763" algn="just">
              <a:lnSpc>
                <a:spcPts val="2500"/>
              </a:lnSpc>
              <a:spcBef>
                <a:spcPts val="1200"/>
              </a:spcBef>
              <a:buNone/>
            </a:pPr>
            <a:r>
              <a:rPr lang="zh-TW" altLang="en-US" sz="22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第一篇　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認識並經歷亞伯拉罕的神、以撒的神和雅各的神，而成為神的以色列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0429240" y="10102"/>
            <a:ext cx="1762760" cy="40011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秋訓</a:t>
            </a: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-01</a:t>
            </a:r>
          </a:p>
        </p:txBody>
      </p:sp>
      <p:sp>
        <p:nvSpPr>
          <p:cNvPr id="4" name="矩形: 圓角 2"/>
          <p:cNvSpPr>
            <a:spLocks noChangeArrowheads="1"/>
          </p:cNvSpPr>
          <p:nvPr/>
        </p:nvSpPr>
        <p:spPr bwMode="auto">
          <a:xfrm>
            <a:off x="307823" y="736247"/>
            <a:ext cx="3515596" cy="5591817"/>
          </a:xfrm>
          <a:prstGeom prst="roundRect">
            <a:avLst>
              <a:gd name="adj" fmla="val 9683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144"/>
          <p:cNvSpPr>
            <a:spLocks noChangeArrowheads="1"/>
          </p:cNvSpPr>
          <p:nvPr/>
        </p:nvSpPr>
        <p:spPr bwMode="auto">
          <a:xfrm>
            <a:off x="4002018" y="674958"/>
            <a:ext cx="2982619" cy="32930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壹 三位先祖的含示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 以色列國的根基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對三一神的經歷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成為神的以色列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 重疊團體的構成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對父源頭的經歷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對子救贖的經歷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對靈變化的經歷</a:t>
            </a:r>
          </a:p>
          <a:p>
            <a:pPr marR="0" lvl="0" indent="53975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buFontTx/>
              <a:buNone/>
              <a:tabLst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144"/>
          <p:cNvSpPr>
            <a:spLocks noChangeArrowheads="1"/>
          </p:cNvSpPr>
          <p:nvPr/>
        </p:nvSpPr>
        <p:spPr bwMode="auto">
          <a:xfrm>
            <a:off x="9344453" y="664567"/>
            <a:ext cx="2847546" cy="29340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indent="0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叁 經歷三一的結果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成為神的以色列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屬靈的以色列人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命定彰顯代表神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為完成祂的定旨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召會在三一神裡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保羅啟示的召會 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異象支配的生活</a:t>
            </a:r>
            <a:endParaRPr lang="zh-TW" altLang="en-US" sz="1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10" name="文字方塊 1"/>
          <p:cNvSpPr txBox="1">
            <a:spLocks noChangeArrowheads="1"/>
          </p:cNvSpPr>
          <p:nvPr/>
        </p:nvSpPr>
        <p:spPr bwMode="auto">
          <a:xfrm>
            <a:off x="307822" y="806177"/>
            <a:ext cx="3432905" cy="504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 fontAlgn="auto" latinLnBrk="0">
              <a:lnSpc>
                <a:spcPts val="2100"/>
              </a:lnSpc>
              <a:spcBef>
                <a:spcPts val="6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28:13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耶和華站在梯子以上，說，我是耶和華你祖亞伯拉罕的神，也是以撒的神；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0" algn="just" fontAlgn="auto" latinLnBrk="0">
              <a:lnSpc>
                <a:spcPts val="2100"/>
              </a:lnSpc>
              <a:spcBef>
                <a:spcPts val="6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出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3:6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又說，我是你父親的神，是亞伯拉罕的神，以撒的神，雅各的神。</a:t>
            </a:r>
            <a:endParaRPr lang="zh-TW" altLang="en-US" sz="2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0" algn="just" fontAlgn="auto" latinLnBrk="0">
              <a:lnSpc>
                <a:spcPts val="2100"/>
              </a:lnSpc>
              <a:spcBef>
                <a:spcPts val="6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出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3:15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神又對摩西說，你要對以色列人這樣說，耶和華你們祖宗的神，就是亞伯拉罕的神，以撒的神，雅各的神，差我到你們這裏來。這是我的名，直到永遠。</a:t>
            </a:r>
          </a:p>
          <a:p>
            <a:pPr indent="0" algn="just" fontAlgn="auto" latinLnBrk="0">
              <a:lnSpc>
                <a:spcPts val="2100"/>
              </a:lnSpc>
              <a:spcBef>
                <a:spcPts val="6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徒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3:13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亞伯拉罕、以撒、雅各的神，就是我們列祖的神，已經榮耀了祂的仆人耶穌。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0" algn="just" fontAlgn="auto" latinLnBrk="0">
              <a:lnSpc>
                <a:spcPts val="2100"/>
              </a:lnSpc>
              <a:spcBef>
                <a:spcPts val="6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6:16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凡照這準則而行的，願平安憐憫臨到他們，就是臨到神的以色列。</a:t>
            </a:r>
          </a:p>
        </p:txBody>
      </p:sp>
      <p:sp>
        <p:nvSpPr>
          <p:cNvPr id="3" name="文本框 99">
            <a:extLst>
              <a:ext uri="{FF2B5EF4-FFF2-40B4-BE49-F238E27FC236}">
                <a16:creationId xmlns:a16="http://schemas.microsoft.com/office/drawing/2014/main" id="{17079AC6-EFAD-60E6-5B8E-67132EF132EB}"/>
              </a:ext>
            </a:extLst>
          </p:cNvPr>
          <p:cNvSpPr txBox="1"/>
          <p:nvPr/>
        </p:nvSpPr>
        <p:spPr>
          <a:xfrm>
            <a:off x="0" y="6454775"/>
            <a:ext cx="12192000" cy="415498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0" algn="r"/>
            <a:r>
              <a:rPr lang="zh-TW" altLang="en-US" sz="2100" b="1" dirty="0">
                <a:latin typeface="Microsoft YaHei" panose="020B0503020204020204" charset="-122"/>
                <a:ea typeface="Microsoft YaHei" panose="020B0503020204020204" charset="-122"/>
              </a:rPr>
              <a:t>亞伯拉罕、以撒和雅各的神，是以色列國的根基，我們認識並經歷三一神，會使我們構成為神的以色列。</a:t>
            </a:r>
            <a:endParaRPr lang="zh-TW" sz="21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5E28F3-AE61-9521-E643-834D4572DF37}"/>
              </a:ext>
            </a:extLst>
          </p:cNvPr>
          <p:cNvSpPr txBox="1"/>
          <p:nvPr/>
        </p:nvSpPr>
        <p:spPr>
          <a:xfrm>
            <a:off x="6670964" y="664567"/>
            <a:ext cx="2673489" cy="544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貳 對三一神的認識</a:t>
            </a:r>
          </a:p>
          <a:p>
            <a:pPr marL="0"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 認識父神是源頭</a:t>
            </a:r>
          </a:p>
          <a:p>
            <a:pPr marR="0" lvl="0" indent="363538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神的時候與能力</a:t>
            </a:r>
          </a:p>
          <a:p>
            <a:pPr marR="0" lvl="0" indent="363538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神作為父的意義 </a:t>
            </a:r>
          </a:p>
          <a:p>
            <a:pPr marL="0"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 認識子神的領受</a:t>
            </a:r>
          </a:p>
          <a:p>
            <a:pPr marR="0" lvl="0" indent="363538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以撒是預表基督</a:t>
            </a:r>
          </a:p>
          <a:p>
            <a:pPr marR="0" lvl="0" indent="363538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完全從父所領受 </a:t>
            </a:r>
          </a:p>
          <a:p>
            <a:pPr marL="0"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三 認識靈神的管治</a:t>
            </a:r>
          </a:p>
          <a:p>
            <a:pPr marR="0" lvl="0" indent="363538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雅各受神的對付 </a:t>
            </a:r>
          </a:p>
          <a:p>
            <a:pPr marR="0" lvl="0" indent="363538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聖靈管治的圖畫 </a:t>
            </a:r>
          </a:p>
          <a:p>
            <a:pPr marR="0" lvl="0" indent="363538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基督成形在人裏</a:t>
            </a:r>
          </a:p>
          <a:p>
            <a:pPr marL="0"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四 神是自有永有的</a:t>
            </a:r>
          </a:p>
          <a:p>
            <a:pPr marL="0"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五 神是使人復活的</a:t>
            </a:r>
          </a:p>
          <a:p>
            <a:pPr marL="0"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六 神是住在帳幕的</a:t>
            </a:r>
          </a:p>
          <a:p>
            <a:pPr marL="0"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七 神是以色列的神</a:t>
            </a:r>
          </a:p>
        </p:txBody>
      </p:sp>
    </p:spTree>
    <p:extLst>
      <p:ext uri="{BB962C8B-B14F-4D97-AF65-F5344CB8AC3E}">
        <p14:creationId xmlns:p14="http://schemas.microsoft.com/office/powerpoint/2010/main" val="192660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BA9B369-24AD-4B54-4E63-3C59BFB9F389}"/>
              </a:ext>
            </a:extLst>
          </p:cNvPr>
          <p:cNvSpPr txBox="1"/>
          <p:nvPr/>
        </p:nvSpPr>
        <p:spPr>
          <a:xfrm>
            <a:off x="2464160" y="1008772"/>
            <a:ext cx="72636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第一篇信息要點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亞伯拉罕、以撒和雅各的神，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是以色列國的根基，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我們認識並經歷三一神，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會使我們構成為神的以色列。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5C9E9A-5FC6-2795-B84E-D3A7B55C1BD8}"/>
              </a:ext>
            </a:extLst>
          </p:cNvPr>
          <p:cNvSpPr/>
          <p:nvPr/>
        </p:nvSpPr>
        <p:spPr bwMode="auto">
          <a:xfrm>
            <a:off x="2012373" y="699447"/>
            <a:ext cx="8046027" cy="5019857"/>
          </a:xfrm>
          <a:prstGeom prst="roundRect">
            <a:avLst/>
          </a:prstGeom>
          <a:noFill/>
          <a:ln w="38100">
            <a:solidFill>
              <a:srgbClr val="00FFFF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超研澤中特圓" pitchFamily="49" charset="-120"/>
              <a:ea typeface="超研澤中特圓" pitchFamily="49" charset="-120"/>
              <a:cs typeface="新細明體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7696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0"/>
            <a:ext cx="10164445" cy="47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indent="-1257300" eaLnBrk="1" hangingPunct="1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4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第二篇　</a:t>
            </a:r>
            <a:r>
              <a:rPr kumimoji="1"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亞伯拉罕的神見於祂對待亞伯拉罕的事</a:t>
            </a:r>
          </a:p>
        </p:txBody>
      </p:sp>
      <p:sp>
        <p:nvSpPr>
          <p:cNvPr id="7" name="Rectangle 144"/>
          <p:cNvSpPr>
            <a:spLocks noChangeArrowheads="1"/>
          </p:cNvSpPr>
          <p:nvPr/>
        </p:nvSpPr>
        <p:spPr bwMode="auto">
          <a:xfrm>
            <a:off x="488373" y="666480"/>
            <a:ext cx="2639292" cy="45658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indent="0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壹 神的顯現與說話</a:t>
            </a:r>
          </a:p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第一次顯現</a:t>
            </a:r>
          </a:p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從吾珥呼召</a:t>
            </a:r>
          </a:p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99FF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第一次說話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 神的榮耀與呼召</a:t>
            </a:r>
          </a:p>
          <a:p>
            <a:pPr indent="363538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神的傳輸與注入</a:t>
            </a:r>
          </a:p>
          <a:p>
            <a:pPr indent="363538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神的堅持與緊持</a:t>
            </a:r>
          </a:p>
          <a:p>
            <a:pPr indent="363538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人的信入與珍賞</a:t>
            </a:r>
          </a:p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從哈蘭呼召</a:t>
            </a:r>
          </a:p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99FF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第二次說話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 神的應許與賜福</a:t>
            </a:r>
          </a:p>
          <a:p>
            <a:pPr indent="363538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大福乃是三一神</a:t>
            </a:r>
          </a:p>
          <a:p>
            <a:pPr indent="363538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成為蒙福的子民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0429240" y="8890"/>
            <a:ext cx="1762760" cy="40011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秋訓</a:t>
            </a: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-02</a:t>
            </a:r>
          </a:p>
        </p:txBody>
      </p:sp>
      <p:sp>
        <p:nvSpPr>
          <p:cNvPr id="2" name="Rectangle 144">
            <a:extLst>
              <a:ext uri="{FF2B5EF4-FFF2-40B4-BE49-F238E27FC236}">
                <a16:creationId xmlns:a16="http://schemas.microsoft.com/office/drawing/2014/main" id="{05E0B926-1AE2-C202-04BF-60C88CA31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6343" y="995923"/>
            <a:ext cx="2784765" cy="598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第四次顯現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FF6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第八次說話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十一 神的友情與秘密 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十二 神的審判與拯救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十三 神的照顧與醫治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FF6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第九次說話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十四 神的守約與命定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FF6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第十次說話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十五 神對人心的試驗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FF6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第十一次說話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十六 神對燔祭的豫備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FF6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第十二次說話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十七 神對後裔的賜福</a:t>
            </a:r>
          </a:p>
          <a:p>
            <a:pPr marR="0" lvl="0" indent="93663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十八 神對老僕的引領</a:t>
            </a:r>
          </a:p>
          <a:p>
            <a:pPr marR="0" lvl="0" indent="93663" defTabSz="914400" rtl="0" eaLnBrk="1" fontAlgn="auto" latinLnBrk="0" hangingPunct="1">
              <a:lnSpc>
                <a:spcPts val="27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贰 神的心願與渴望</a:t>
            </a:r>
          </a:p>
          <a:p>
            <a:pPr indent="0" eaLnBrk="1" fontAlgn="auto" hangingPunct="1">
              <a:lnSpc>
                <a:spcPts val="2700"/>
              </a:lnSpc>
              <a:spcBef>
                <a:spcPts val="1200"/>
              </a:spcBef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144">
            <a:extLst>
              <a:ext uri="{FF2B5EF4-FFF2-40B4-BE49-F238E27FC236}">
                <a16:creationId xmlns:a16="http://schemas.microsoft.com/office/drawing/2014/main" id="{FB794377-29AC-2852-ADA5-91CA87A84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9837" y="1040551"/>
            <a:ext cx="2639292" cy="49121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第二次顯現</a:t>
            </a:r>
          </a:p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99FF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第三次說話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 神對美地的賜與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 神對選民的照顧</a:t>
            </a:r>
            <a:r>
              <a:rPr lang="zh-TW" altLang="en-US" sz="2000" b="1" dirty="0">
                <a:solidFill>
                  <a:srgbClr val="99FF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第四次說話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五 神的安慰與鼓勵</a:t>
            </a:r>
            <a:endParaRPr lang="en-US" altLang="zh-TW" sz="2000" b="1" dirty="0">
              <a:solidFill>
                <a:srgbClr val="00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363538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後裔如塵沙繁多</a:t>
            </a:r>
          </a:p>
          <a:p>
            <a:pPr indent="363538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美地是無限豐富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 神的供應與祝福</a:t>
            </a:r>
          </a:p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99FF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第五次說話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七 神是盾牌並賞賜</a:t>
            </a:r>
          </a:p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99FF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第六次說話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八 神的信實與守約</a:t>
            </a:r>
            <a:endParaRPr lang="en-US" altLang="zh-TW" sz="2000" b="1" dirty="0">
              <a:solidFill>
                <a:srgbClr val="00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九 神的靜默與等候</a:t>
            </a:r>
          </a:p>
        </p:txBody>
      </p:sp>
      <p:sp>
        <p:nvSpPr>
          <p:cNvPr id="11" name="Rectangle 144">
            <a:extLst>
              <a:ext uri="{FF2B5EF4-FFF2-40B4-BE49-F238E27FC236}">
                <a16:creationId xmlns:a16="http://schemas.microsoft.com/office/drawing/2014/main" id="{C628D724-CDCF-EC7C-9912-B3961D5F7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375" y="1040551"/>
            <a:ext cx="2639292" cy="28346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第三次顯現</a:t>
            </a:r>
          </a:p>
          <a:p>
            <a:pPr indent="0" algn="ctr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99FF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第七次說話</a:t>
            </a:r>
          </a:p>
          <a:p>
            <a:pPr indent="0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 神的豐足與對付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作人全備的供應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享受豐滿的撫育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得著滋養並加力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為著了結與新生</a:t>
            </a:r>
          </a:p>
          <a:p>
            <a:pPr indent="176213" eaLnBrk="1" fontAlgn="auto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rgbClr val="00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本框 99">
            <a:extLst>
              <a:ext uri="{FF2B5EF4-FFF2-40B4-BE49-F238E27FC236}">
                <a16:creationId xmlns:a16="http://schemas.microsoft.com/office/drawing/2014/main" id="{2C3423F7-A5B7-F08B-8D55-C28BF19FA95B}"/>
              </a:ext>
            </a:extLst>
          </p:cNvPr>
          <p:cNvSpPr txBox="1"/>
          <p:nvPr/>
        </p:nvSpPr>
        <p:spPr>
          <a:xfrm>
            <a:off x="0" y="6454775"/>
            <a:ext cx="12192000" cy="415498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0" algn="r"/>
            <a:r>
              <a:rPr lang="zh-TW" altLang="en-US" sz="2100" b="1" dirty="0">
                <a:latin typeface="Microsoft YaHei" panose="020B0503020204020204" charset="-122"/>
                <a:ea typeface="Microsoft YaHei" panose="020B0503020204020204" charset="-122"/>
              </a:rPr>
              <a:t>藉著神的顯現與說話，向人揭示祂的應許與豐足，使人認識祂的心願與渴望，並答應呼召完成神的經綸。</a:t>
            </a:r>
            <a:endParaRPr lang="zh-TW" sz="21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BA9B369-24AD-4B54-4E63-3C59BFB9F389}"/>
              </a:ext>
            </a:extLst>
          </p:cNvPr>
          <p:cNvSpPr txBox="1"/>
          <p:nvPr/>
        </p:nvSpPr>
        <p:spPr>
          <a:xfrm>
            <a:off x="2464160" y="1008772"/>
            <a:ext cx="72636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第二篇信息要點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lvl="0" algn="ctr">
              <a:spcBef>
                <a:spcPts val="240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神藉著祂的</a:t>
            </a: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顯現與說話，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向人揭示祂的應許與豐足，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使人認識祂的心願與渴望，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並答應呼召完成神的經綸。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5C9E9A-5FC6-2795-B84E-D3A7B55C1BD8}"/>
              </a:ext>
            </a:extLst>
          </p:cNvPr>
          <p:cNvSpPr/>
          <p:nvPr/>
        </p:nvSpPr>
        <p:spPr bwMode="auto">
          <a:xfrm>
            <a:off x="2012373" y="699447"/>
            <a:ext cx="8046027" cy="5019857"/>
          </a:xfrm>
          <a:prstGeom prst="roundRect">
            <a:avLst/>
          </a:prstGeom>
          <a:noFill/>
          <a:ln w="38100">
            <a:solidFill>
              <a:srgbClr val="00FFFF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超研澤中特圓" pitchFamily="49" charset="-120"/>
              <a:ea typeface="超研澤中特圓" pitchFamily="49" charset="-120"/>
              <a:cs typeface="新細明體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789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07A7405-742A-199C-62DB-E47653277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110" y="3023755"/>
            <a:ext cx="3273136" cy="33462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字方塊 4"/>
          <p:cNvSpPr txBox="1"/>
          <p:nvPr/>
        </p:nvSpPr>
        <p:spPr>
          <a:xfrm>
            <a:off x="0" y="21346"/>
            <a:ext cx="9758045" cy="47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indent="-1257300" eaLnBrk="1" hangingPunct="1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4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第三篇  </a:t>
            </a:r>
            <a:r>
              <a:rPr kumimoji="1"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兩個婦人的寓意</a:t>
            </a:r>
            <a:endParaRPr kumimoji="1"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</p:txBody>
      </p:sp>
      <p:sp>
        <p:nvSpPr>
          <p:cNvPr id="6" name="矩形: 圓角 2"/>
          <p:cNvSpPr>
            <a:spLocks noChangeArrowheads="1"/>
          </p:cNvSpPr>
          <p:nvPr/>
        </p:nvSpPr>
        <p:spPr bwMode="auto">
          <a:xfrm>
            <a:off x="220980" y="765118"/>
            <a:ext cx="3374275" cy="5401021"/>
          </a:xfrm>
          <a:prstGeom prst="roundRect">
            <a:avLst>
              <a:gd name="adj" fmla="val 8897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1"/>
          <p:cNvSpPr txBox="1">
            <a:spLocks noChangeArrowheads="1"/>
          </p:cNvSpPr>
          <p:nvPr/>
        </p:nvSpPr>
        <p:spPr bwMode="auto">
          <a:xfrm>
            <a:off x="256540" y="774989"/>
            <a:ext cx="3245196" cy="531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 fontAlgn="auto" latinLnBrk="0">
              <a:lnSpc>
                <a:spcPts val="2300"/>
              </a:lnSpc>
              <a:spcBef>
                <a:spcPts val="4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4:22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因為律法上記著，亞伯拉罕有兩個兒子，一個是出於使女，一個是出於自主的婦人。</a:t>
            </a:r>
          </a:p>
          <a:p>
            <a:pPr indent="0" algn="just" fontAlgn="auto" latinLnBrk="0">
              <a:lnSpc>
                <a:spcPts val="2300"/>
              </a:lnSpc>
              <a:spcBef>
                <a:spcPts val="4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4:23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然而那出於使女的，是按著肉體生的；那出於自主婦人的，是借著應許生的。</a:t>
            </a:r>
          </a:p>
          <a:p>
            <a:pPr indent="0" algn="just" fontAlgn="auto" latinLnBrk="0">
              <a:lnSpc>
                <a:spcPts val="2300"/>
              </a:lnSpc>
              <a:spcBef>
                <a:spcPts val="4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4:24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這些都是寓意：兩個婦人就是兩約，一個是出於西乃山，生子為奴，乃是夏甲。</a:t>
            </a:r>
          </a:p>
          <a:p>
            <a:pPr indent="0" algn="just" fontAlgn="auto" latinLnBrk="0">
              <a:lnSpc>
                <a:spcPts val="2300"/>
              </a:lnSpc>
              <a:spcBef>
                <a:spcPts val="4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4:25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這夏甲就是在亞拉伯的西乃山，相當於現在的耶路撒冷，因耶路撒冷同她的兒女都是作奴仆的。</a:t>
            </a:r>
          </a:p>
          <a:p>
            <a:pPr indent="0" algn="just" fontAlgn="auto" latinLnBrk="0">
              <a:lnSpc>
                <a:spcPts val="2300"/>
              </a:lnSpc>
              <a:spcBef>
                <a:spcPts val="4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4:26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但那在上的耶路撒冷是自主的，她是我們的母，</a:t>
            </a:r>
          </a:p>
        </p:txBody>
      </p:sp>
      <p:sp>
        <p:nvSpPr>
          <p:cNvPr id="8" name="Rectangle 144"/>
          <p:cNvSpPr>
            <a:spLocks noChangeArrowheads="1"/>
          </p:cNvSpPr>
          <p:nvPr/>
        </p:nvSpPr>
        <p:spPr bwMode="auto">
          <a:xfrm>
            <a:off x="3650333" y="659966"/>
            <a:ext cx="2756927" cy="50692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壹 兩個婦人與兩約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 撒拉是恩典之約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應許要得著後裔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憑恩典產生後裔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後裔完成神定旨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 夏甲是律法之約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律法是妾的地位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律法使人受奴役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律法會生出肉體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肉體被神所棄絕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 應許是在約之前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神無意要人遵守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神要作到人裏面</a:t>
            </a:r>
          </a:p>
          <a:p>
            <a:pPr lvl="1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ectangle 144"/>
          <p:cNvSpPr>
            <a:spLocks noChangeArrowheads="1"/>
          </p:cNvSpPr>
          <p:nvPr/>
        </p:nvSpPr>
        <p:spPr bwMode="auto">
          <a:xfrm>
            <a:off x="9382992" y="659966"/>
            <a:ext cx="2845779" cy="6079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貳 兩約經歷的對照</a:t>
            </a:r>
          </a:p>
          <a:p>
            <a:pPr indent="176213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 兩約不同的結局</a:t>
            </a:r>
          </a:p>
          <a:p>
            <a:pPr indent="176213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 兩約不同的出產</a:t>
            </a:r>
          </a:p>
          <a:p>
            <a:pPr indent="176213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 起初的恩典之約</a:t>
            </a:r>
          </a:p>
          <a:p>
            <a:pPr indent="363538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藉恩產生神眾子</a:t>
            </a:r>
          </a:p>
          <a:p>
            <a:pPr indent="363538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起初的約是新約</a:t>
            </a:r>
          </a:p>
          <a:p>
            <a:pPr indent="176213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 不同性質的兒女</a:t>
            </a:r>
          </a:p>
          <a:p>
            <a:pPr indent="363538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兒女的血源不同</a:t>
            </a:r>
          </a:p>
          <a:p>
            <a:pPr indent="363538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兒女的權利不同</a:t>
            </a:r>
          </a:p>
          <a:p>
            <a:pPr indent="363538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那靈所生的兒女</a:t>
            </a:r>
          </a:p>
          <a:p>
            <a:pPr indent="176213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五 撒拉是象徵恩典</a:t>
            </a:r>
          </a:p>
          <a:p>
            <a:pPr indent="363538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新約是信徒之母</a:t>
            </a:r>
          </a:p>
          <a:p>
            <a:pPr indent="363538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父與母與子是一</a:t>
            </a:r>
          </a:p>
          <a:p>
            <a:pPr indent="363538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約與城與會是一</a:t>
            </a:r>
          </a:p>
          <a:p>
            <a:pPr indent="363538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聖徒所等候的城</a:t>
            </a:r>
          </a:p>
          <a:p>
            <a:pPr indent="539750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眾子是由母產生</a:t>
            </a:r>
          </a:p>
          <a:p>
            <a:pPr indent="539750" eaLnBrk="1" fontAlgn="auto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聖城由眾子構成</a:t>
            </a:r>
          </a:p>
          <a:p>
            <a:pPr lvl="1" eaLnBrk="1" hangingPunct="1">
              <a:lnSpc>
                <a:spcPts val="2700"/>
              </a:lnSpc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0429240" y="41275"/>
            <a:ext cx="1762760" cy="39878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秋訓</a:t>
            </a: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-03</a:t>
            </a:r>
          </a:p>
        </p:txBody>
      </p:sp>
      <p:sp>
        <p:nvSpPr>
          <p:cNvPr id="2" name="文本框 99">
            <a:extLst>
              <a:ext uri="{FF2B5EF4-FFF2-40B4-BE49-F238E27FC236}">
                <a16:creationId xmlns:a16="http://schemas.microsoft.com/office/drawing/2014/main" id="{B2AB43C7-1CBF-78A8-CCC1-F99FE5E572AC}"/>
              </a:ext>
            </a:extLst>
          </p:cNvPr>
          <p:cNvSpPr txBox="1"/>
          <p:nvPr/>
        </p:nvSpPr>
        <p:spPr>
          <a:xfrm>
            <a:off x="0" y="6454775"/>
            <a:ext cx="12192000" cy="415498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0" algn="r"/>
            <a:r>
              <a:rPr lang="zh-TW" altLang="en-US" sz="21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兩個婦人是代表兩</a:t>
            </a:r>
            <a:r>
              <a:rPr lang="zh-TW" altLang="en-US" sz="2100" b="1" dirty="0">
                <a:latin typeface="Microsoft YaHei" panose="020B0503020204020204" charset="-122"/>
                <a:ea typeface="Microsoft YaHei" panose="020B0503020204020204" charset="-122"/>
              </a:rPr>
              <a:t>約，律法的舊約是生子為奴，恩典</a:t>
            </a:r>
            <a:r>
              <a:rPr lang="zh-TW" altLang="en-US" sz="21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的新約產生應許的後裔，眾後裔要構成新耶路撒冷。</a:t>
            </a:r>
            <a:endParaRPr lang="zh-TW" sz="21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6A62631-6A72-C911-057B-7D2473B2D1E4}"/>
              </a:ext>
            </a:extLst>
          </p:cNvPr>
          <p:cNvSpPr txBox="1"/>
          <p:nvPr/>
        </p:nvSpPr>
        <p:spPr>
          <a:xfrm>
            <a:off x="6577118" y="1015722"/>
            <a:ext cx="2756928" cy="2530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四 神以割禮堅定約</a:t>
            </a:r>
          </a:p>
          <a:p>
            <a:pPr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神是全豐全足的</a:t>
            </a:r>
          </a:p>
          <a:p>
            <a:pPr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神割除人的肉體</a:t>
            </a:r>
          </a:p>
          <a:p>
            <a:pPr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藉著基督的十架</a:t>
            </a:r>
          </a:p>
          <a:p>
            <a:pPr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藉割禮堅立神約</a:t>
            </a: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BA9B369-24AD-4B54-4E63-3C59BFB9F389}"/>
              </a:ext>
            </a:extLst>
          </p:cNvPr>
          <p:cNvSpPr txBox="1"/>
          <p:nvPr/>
        </p:nvSpPr>
        <p:spPr>
          <a:xfrm>
            <a:off x="2464160" y="1008772"/>
            <a:ext cx="72636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第三篇信息要點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兩個婦人是代表兩約，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律法的舊約是生子為奴，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恩典的新約產生應許的後裔，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眾後裔要構成新耶路撒冷。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5C9E9A-5FC6-2795-B84E-D3A7B55C1BD8}"/>
              </a:ext>
            </a:extLst>
          </p:cNvPr>
          <p:cNvSpPr/>
          <p:nvPr/>
        </p:nvSpPr>
        <p:spPr bwMode="auto">
          <a:xfrm>
            <a:off x="2012373" y="699447"/>
            <a:ext cx="8046027" cy="5019857"/>
          </a:xfrm>
          <a:prstGeom prst="roundRect">
            <a:avLst/>
          </a:prstGeom>
          <a:noFill/>
          <a:ln w="38100">
            <a:solidFill>
              <a:srgbClr val="00FFFF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超研澤中特圓" pitchFamily="49" charset="-120"/>
              <a:ea typeface="超研澤中特圓" pitchFamily="49" charset="-120"/>
              <a:cs typeface="新細明體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9025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-1" y="-7439"/>
            <a:ext cx="7439891" cy="47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indent="-1257300" eaLnBrk="1" hangingPunct="1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4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第四篇  </a:t>
            </a:r>
            <a:r>
              <a:rPr kumimoji="1"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獻上以撒並經歷神是叫死人復活的神</a:t>
            </a:r>
            <a:endParaRPr kumimoji="1"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</p:txBody>
      </p:sp>
      <p:sp>
        <p:nvSpPr>
          <p:cNvPr id="6" name="矩形: 圓角 2"/>
          <p:cNvSpPr>
            <a:spLocks noChangeArrowheads="1"/>
          </p:cNvSpPr>
          <p:nvPr/>
        </p:nvSpPr>
        <p:spPr bwMode="auto">
          <a:xfrm>
            <a:off x="220980" y="729846"/>
            <a:ext cx="3409950" cy="5359176"/>
          </a:xfrm>
          <a:prstGeom prst="roundRect">
            <a:avLst>
              <a:gd name="adj" fmla="val 10487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1"/>
          <p:cNvSpPr txBox="1">
            <a:spLocks noChangeArrowheads="1"/>
          </p:cNvSpPr>
          <p:nvPr/>
        </p:nvSpPr>
        <p:spPr bwMode="auto">
          <a:xfrm>
            <a:off x="270773" y="786198"/>
            <a:ext cx="3299691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22:2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神說，你帶著你的兒子，就是你獨生的兒子，你所愛的以撒，往摩利亞地去，在我所要指示你的山上，把他獻為燔祭。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22:7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以撒說，請看，火與柴都有了，但燔祭的羊羔在哪裏？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22:8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亞伯拉罕說，我兒，神必自己預備作燔祭的羊羔。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22:16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耶和華宣示說，你既行了這事，不留下你的兒子，就是你獨生的兒子，我指著自己起誓：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22:17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論福，我必賜福給你；論繁增，我必使你的後裔繁增，如同天上的星，海邊的沙。</a:t>
            </a:r>
          </a:p>
        </p:txBody>
      </p:sp>
      <p:sp>
        <p:nvSpPr>
          <p:cNvPr id="9" name="Rectangle 144"/>
          <p:cNvSpPr>
            <a:spLocks noChangeArrowheads="1"/>
          </p:cNvSpPr>
          <p:nvPr/>
        </p:nvSpPr>
        <p:spPr bwMode="auto">
          <a:xfrm>
            <a:off x="3795049" y="688282"/>
            <a:ext cx="2868626" cy="52391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indent="0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壹 神試驗亞伯拉罕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獻上以撒作燔祭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產生燔祭的生活</a:t>
            </a:r>
          </a:p>
          <a:p>
            <a:pPr indent="539750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a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升到神前的燔祭</a:t>
            </a:r>
          </a:p>
          <a:p>
            <a:pPr indent="539750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b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完全絕對的燔祭</a:t>
            </a:r>
          </a:p>
          <a:p>
            <a:pPr indent="539750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c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神得滿足的燔祭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燔祭的召會生活</a:t>
            </a:r>
          </a:p>
          <a:p>
            <a:pPr indent="539750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a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在別是巴的呼求</a:t>
            </a:r>
          </a:p>
          <a:p>
            <a:pPr indent="539750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b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在摩利亞的獻祭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將神所賜獻回神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神要恩典的回饋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神試驗人的信心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神經綸裏的原則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4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神對人最高要求</a:t>
            </a:r>
          </a:p>
          <a:p>
            <a:pPr indent="176213" eaLnBrk="1" fontAlgn="auto" hangingPunct="1">
              <a:lnSpc>
                <a:spcPts val="25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63675" y="688282"/>
            <a:ext cx="2682201" cy="60823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貳 向神的信而順從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停下自己的行事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接受信心的注入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endParaRPr lang="en-US" altLang="zh-TW" sz="2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參 神在山上的豫備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在摩利亞的異象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經歷山上的豫備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三 今日的摩利亞山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四 恢復山上的奉獻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肆 神在復活裏歸還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叫死人復活的神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歸還復活的以撒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三 成為萬國的祝福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四 需經過死的試驗</a:t>
            </a:r>
          </a:p>
          <a:p>
            <a:pPr indent="176213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五 神在復活裏歸還</a:t>
            </a:r>
          </a:p>
          <a:p>
            <a:pPr fontAlgn="auto">
              <a:lnSpc>
                <a:spcPts val="3000"/>
              </a:lnSpc>
              <a:spcBef>
                <a:spcPts val="0"/>
              </a:spcBef>
              <a:buClr>
                <a:srgbClr val="FFCC00"/>
              </a:buClr>
              <a:defRPr/>
            </a:pPr>
            <a:endParaRPr lang="zh-TW" altLang="en-US" sz="2000" b="1" dirty="0">
              <a:solidFill>
                <a:srgbClr val="00FFFF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0429240" y="41275"/>
            <a:ext cx="1762760" cy="39878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秋訓</a:t>
            </a: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-04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0" y="6454775"/>
            <a:ext cx="12192000" cy="415498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0" algn="r"/>
            <a:r>
              <a:rPr lang="zh-TW" altLang="en-US" sz="2100" b="1" dirty="0">
                <a:latin typeface="Microsoft YaHei" panose="020B0503020204020204" charset="-122"/>
                <a:ea typeface="Microsoft YaHei" panose="020B0503020204020204" charset="-122"/>
              </a:rPr>
              <a:t>亞伯拉罕獻上以撒作燔祭，因他相信神必有豫備，且信神必在復活中歸還，至終後裔多如星與沙的繁增</a:t>
            </a:r>
            <a:r>
              <a:rPr lang="zh-TW" altLang="en-US" sz="21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zh-TW" sz="21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8E306C5-A497-2FED-9231-4B7B63CDFD83}"/>
              </a:ext>
            </a:extLst>
          </p:cNvPr>
          <p:cNvSpPr txBox="1"/>
          <p:nvPr/>
        </p:nvSpPr>
        <p:spPr>
          <a:xfrm>
            <a:off x="9509799" y="660741"/>
            <a:ext cx="2682201" cy="524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伍 人獻祭後的繁增</a:t>
            </a:r>
          </a:p>
          <a:p>
            <a:pPr marR="0" lvl="0" indent="176213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海邊沙與天上星</a:t>
            </a:r>
          </a:p>
          <a:p>
            <a:pPr marR="0" lvl="0" indent="363538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新舊約的沙與星</a:t>
            </a:r>
          </a:p>
          <a:p>
            <a:pPr marR="0" lvl="0" indent="363538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兩班人要被建造</a:t>
            </a:r>
          </a:p>
          <a:p>
            <a:pPr marR="0" lvl="0" indent="176213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恩賜繁增的原則</a:t>
            </a:r>
          </a:p>
          <a:p>
            <a:pPr marR="0" lvl="0" indent="363538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獻以撒成星與沙</a:t>
            </a:r>
          </a:p>
          <a:p>
            <a:pPr marR="0" lvl="0" indent="363538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子粒置死將繁增</a:t>
            </a:r>
          </a:p>
          <a:p>
            <a:pPr marR="0" lvl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+mn-ea"/>
            </a:endParaRPr>
          </a:p>
          <a:p>
            <a:pPr marR="0" lvl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陸 摩利亞山成錫安</a:t>
            </a:r>
          </a:p>
          <a:p>
            <a:pPr marR="0" lvl="0" indent="176213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先祖獻祭的錫安</a:t>
            </a:r>
          </a:p>
          <a:p>
            <a:pPr marR="0" lvl="0" indent="176213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選民守節的錫安</a:t>
            </a:r>
          </a:p>
          <a:p>
            <a:pPr marR="0" lvl="0" indent="176213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三 得勝信徒的錫安</a:t>
            </a:r>
          </a:p>
          <a:p>
            <a:pPr marR="0" lvl="0" indent="176213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四 聖城撒冷的錫安</a:t>
            </a:r>
          </a:p>
          <a:p>
            <a:pPr marR="0" lvl="0" indent="176213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五 身體實際的錫安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BA9B369-24AD-4B54-4E63-3C59BFB9F389}"/>
              </a:ext>
            </a:extLst>
          </p:cNvPr>
          <p:cNvSpPr txBox="1"/>
          <p:nvPr/>
        </p:nvSpPr>
        <p:spPr>
          <a:xfrm>
            <a:off x="2464160" y="1008772"/>
            <a:ext cx="72636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第四篇信息要點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lvl="0" algn="ctr">
              <a:spcBef>
                <a:spcPts val="240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亞伯拉罕獻上以撒作燔祭，</a:t>
            </a:r>
            <a:endParaRPr lang="en-US" altLang="zh-TW" sz="4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algn="ctr">
              <a:spcBef>
                <a:spcPts val="240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因他相信神必有豫備，</a:t>
            </a:r>
            <a:endParaRPr lang="en-US" altLang="zh-TW" sz="4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algn="ctr">
              <a:spcBef>
                <a:spcPts val="240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且信神必在復活中歸還，</a:t>
            </a:r>
            <a:endParaRPr lang="en-US" altLang="zh-TW" sz="4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algn="ctr">
              <a:spcBef>
                <a:spcPts val="240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至終後裔多如星與沙的繁增。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5C9E9A-5FC6-2795-B84E-D3A7B55C1BD8}"/>
              </a:ext>
            </a:extLst>
          </p:cNvPr>
          <p:cNvSpPr/>
          <p:nvPr/>
        </p:nvSpPr>
        <p:spPr bwMode="auto">
          <a:xfrm>
            <a:off x="2012373" y="699447"/>
            <a:ext cx="8046027" cy="5019857"/>
          </a:xfrm>
          <a:prstGeom prst="roundRect">
            <a:avLst/>
          </a:prstGeom>
          <a:noFill/>
          <a:ln w="38100">
            <a:solidFill>
              <a:srgbClr val="00FFFF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超研澤中特圓" pitchFamily="49" charset="-120"/>
              <a:ea typeface="超研澤中特圓" pitchFamily="49" charset="-120"/>
              <a:cs typeface="新細明體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7811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0" y="31173"/>
            <a:ext cx="9964882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3763" indent="-893763" eaLnBrk="1" hangingPunct="1">
              <a:lnSpc>
                <a:spcPts val="2500"/>
              </a:lnSpc>
              <a:spcAft>
                <a:spcPts val="0"/>
              </a:spcAft>
              <a:buNone/>
              <a:defRPr/>
            </a:pPr>
            <a:r>
              <a:rPr kumimoji="1" lang="zh-TW" altLang="en-US" sz="24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第五篇  </a:t>
            </a:r>
            <a:r>
              <a:rPr kumimoji="1"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過享受恩典的生活，使神喜悦</a:t>
            </a:r>
            <a:endParaRPr kumimoji="1"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</p:txBody>
      </p:sp>
      <p:sp>
        <p:nvSpPr>
          <p:cNvPr id="6" name="矩形: 圓角 2"/>
          <p:cNvSpPr>
            <a:spLocks noChangeArrowheads="1"/>
          </p:cNvSpPr>
          <p:nvPr/>
        </p:nvSpPr>
        <p:spPr bwMode="auto">
          <a:xfrm>
            <a:off x="218325" y="823458"/>
            <a:ext cx="3601085" cy="5312285"/>
          </a:xfrm>
          <a:prstGeom prst="roundRect">
            <a:avLst>
              <a:gd name="adj" fmla="val 7951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1"/>
          <p:cNvSpPr txBox="1">
            <a:spLocks noChangeArrowheads="1"/>
          </p:cNvSpPr>
          <p:nvPr/>
        </p:nvSpPr>
        <p:spPr bwMode="auto">
          <a:xfrm>
            <a:off x="265949" y="835940"/>
            <a:ext cx="3505835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26:3	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你寄居在這地，我必與你同在，賜福給你，因爲我要將這些地都賜給你和你的後裔；我必堅定我向你父亞伯拉罕所起的誓。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26:4	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我要使你的後裔繁增，如同天上的星那樣多，又要將這些地都賜給你的後裔；並且地上萬國必因你的後裔得福；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26:12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以撒在那地撒種，那一年有百倍的收成。耶和華賜福給他，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26:13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他就昌大，越發昌盛，成了巨富。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加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3:14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	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爲叫亞伯拉罕的福，在基督耶穌裏可以臨到外邦人，使我們藉着信，可以接受所應許的那靈。</a:t>
            </a:r>
          </a:p>
        </p:txBody>
      </p:sp>
      <p:sp>
        <p:nvSpPr>
          <p:cNvPr id="9" name="Rectangle 144"/>
          <p:cNvSpPr>
            <a:spLocks noChangeArrowheads="1"/>
          </p:cNvSpPr>
          <p:nvPr/>
        </p:nvSpPr>
        <p:spPr bwMode="auto">
          <a:xfrm>
            <a:off x="3962399" y="684521"/>
            <a:ext cx="2637791" cy="47293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indent="0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壹 以撒是恩典模型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認識恩典的定義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恩典是神的命定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三 全豐全足的恩典</a:t>
            </a:r>
          </a:p>
          <a:p>
            <a:pPr indent="0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en-US" altLang="zh-TW" sz="2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indent="0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貳 以撒從恩典出生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在神約定的日期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生命眷顧的時候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恩典來臨的時候</a:t>
            </a:r>
          </a:p>
          <a:p>
            <a:pPr indent="36353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天然已死的時候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天然生命的割除</a:t>
            </a:r>
          </a:p>
          <a:p>
            <a:pPr indent="176213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三 神聖恩典的享受</a:t>
            </a:r>
          </a:p>
          <a:p>
            <a:pPr indent="0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43179" y="684521"/>
            <a:ext cx="2637790" cy="58995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參 以撒恩典中長大</a:t>
            </a:r>
          </a:p>
          <a:p>
            <a:pPr indent="176213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長大是基督成形</a:t>
            </a:r>
          </a:p>
          <a:p>
            <a:pPr indent="176213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是對恩典的全享</a:t>
            </a:r>
          </a:p>
          <a:p>
            <a:pPr indent="176213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三 享受主恩的憑藉</a:t>
            </a:r>
          </a:p>
          <a:p>
            <a:pPr indent="363538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</a:t>
            </a: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血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將人帶進享受</a:t>
            </a:r>
          </a:p>
          <a:p>
            <a:pPr indent="363538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</a:t>
            </a: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話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使人心中喜樂</a:t>
            </a:r>
          </a:p>
          <a:p>
            <a:pPr indent="363538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3</a:t>
            </a: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靈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給人全備供應</a:t>
            </a:r>
          </a:p>
          <a:p>
            <a:pPr indent="363538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4</a:t>
            </a: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召會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使人享甘露</a:t>
            </a:r>
          </a:p>
          <a:p>
            <a:pPr indent="176213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四 享受主恩的操練</a:t>
            </a:r>
          </a:p>
          <a:p>
            <a:pPr indent="363538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心中讓主登寶座</a:t>
            </a:r>
          </a:p>
          <a:p>
            <a:pPr indent="363538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享受生命的水河</a:t>
            </a:r>
          </a:p>
          <a:p>
            <a:pPr indent="176213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五 享受主恩的道路</a:t>
            </a:r>
            <a:endParaRPr lang="en-US" altLang="zh-TW" sz="2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indent="0" algn="l" fontAlgn="auto">
              <a:lnSpc>
                <a:spcPts val="2600"/>
              </a:lnSpc>
              <a:spcBef>
                <a:spcPts val="120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肆 以撒成恩典後嗣</a:t>
            </a:r>
          </a:p>
          <a:p>
            <a:pPr indent="176213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承受父所賜豐富</a:t>
            </a:r>
          </a:p>
          <a:p>
            <a:pPr indent="176213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享受父神的一切</a:t>
            </a:r>
          </a:p>
          <a:p>
            <a:pPr indent="176213" algn="l" fontAlgn="auto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defRPr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三 接受是得勝秘訣</a:t>
            </a:r>
          </a:p>
          <a:p>
            <a:pPr indent="0" algn="l" fontAlgn="auto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defRPr/>
            </a:pP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0429240" y="41275"/>
            <a:ext cx="1762760" cy="39878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秋訓</a:t>
            </a: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-05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6454775"/>
            <a:ext cx="12192000" cy="415498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0" algn="r"/>
            <a:r>
              <a:rPr lang="zh-TW" altLang="en-US" sz="2100" b="1" dirty="0">
                <a:latin typeface="Microsoft YaHei" panose="020B0503020204020204" charset="-122"/>
                <a:ea typeface="Microsoft YaHei" panose="020B0503020204020204" charset="-122"/>
              </a:rPr>
              <a:t>以撒是神恩典的模型，他在恩典中出生與長大，成為後嗣承受父的豐足，基督是真正完成神應許的後裔。</a:t>
            </a:r>
            <a:endParaRPr lang="zh-TW" altLang="en-US" sz="21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92C1B2-FD34-D868-BE2F-6EE596902C6C}"/>
              </a:ext>
            </a:extLst>
          </p:cNvPr>
          <p:cNvSpPr txBox="1"/>
          <p:nvPr/>
        </p:nvSpPr>
        <p:spPr>
          <a:xfrm>
            <a:off x="9490074" y="691084"/>
            <a:ext cx="2592821" cy="566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伍 以撒恩典中順從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有能力忍受一切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能作王管理一切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三 不從恩典中墬落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四 需靠恩典得堅固</a:t>
            </a:r>
          </a:p>
          <a:p>
            <a:pPr marR="0" lvl="0" defTabSz="914400" rtl="0" eaLnBrk="1" fontAlgn="auto" latinLnBrk="0" hangingPunct="1">
              <a:lnSpc>
                <a:spcPts val="25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陸 以撒恩典上富足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人心必須是好土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恩典是超越豐富</a:t>
            </a:r>
          </a:p>
          <a:p>
            <a:pPr marR="0" lvl="0" defTabSz="914400" rtl="0" eaLnBrk="1" fontAlgn="auto" latinLnBrk="0" hangingPunct="1">
              <a:lnSpc>
                <a:spcPts val="25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柒 以撒在正確地方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在神稱義的立場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在神揀選的地方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三 由別是巴所表徵</a:t>
            </a:r>
          </a:p>
          <a:p>
            <a:pPr marR="0" lvl="0" defTabSz="914400" rtl="0" eaLnBrk="1" fontAlgn="auto" latinLnBrk="0" hangingPunct="1">
              <a:lnSpc>
                <a:spcPts val="25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捌 基督是應許後裔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為產生團體後裔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為帶進神的國度</a:t>
            </a:r>
          </a:p>
          <a:p>
            <a:pPr marR="0" lvl="0" indent="176213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三 神得著完滿彰顯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BA9B369-24AD-4B54-4E63-3C59BFB9F389}"/>
              </a:ext>
            </a:extLst>
          </p:cNvPr>
          <p:cNvSpPr txBox="1"/>
          <p:nvPr/>
        </p:nvSpPr>
        <p:spPr>
          <a:xfrm>
            <a:off x="2464160" y="1008772"/>
            <a:ext cx="72636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第五篇信息要點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以撒是神恩典的模型，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他在恩典中出生與長大，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成為後嗣承受父的豐足，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基督是真正完成神應許的後裔。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5C9E9A-5FC6-2795-B84E-D3A7B55C1BD8}"/>
              </a:ext>
            </a:extLst>
          </p:cNvPr>
          <p:cNvSpPr/>
          <p:nvPr/>
        </p:nvSpPr>
        <p:spPr bwMode="auto">
          <a:xfrm>
            <a:off x="2012373" y="699447"/>
            <a:ext cx="8046027" cy="5019857"/>
          </a:xfrm>
          <a:prstGeom prst="roundRect">
            <a:avLst/>
          </a:prstGeom>
          <a:noFill/>
          <a:ln w="38100">
            <a:solidFill>
              <a:srgbClr val="00FFFF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超研澤中特圓" pitchFamily="49" charset="-120"/>
              <a:ea typeface="超研澤中特圓" pitchFamily="49" charset="-120"/>
              <a:cs typeface="新細明體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2979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14028"/>
            <a:ext cx="9038590" cy="47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indent="-1257300" eaLnBrk="1" hangingPunct="1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4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第六篇  </a:t>
            </a:r>
            <a:r>
              <a:rPr kumimoji="1"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伯特利的夢</a:t>
            </a:r>
            <a:endParaRPr kumimoji="1"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  <a:sym typeface="+mn-ea"/>
            </a:endParaRPr>
          </a:p>
        </p:txBody>
      </p:sp>
      <p:sp>
        <p:nvSpPr>
          <p:cNvPr id="5" name="矩形: 圓角 2"/>
          <p:cNvSpPr>
            <a:spLocks noChangeArrowheads="1"/>
          </p:cNvSpPr>
          <p:nvPr/>
        </p:nvSpPr>
        <p:spPr bwMode="auto">
          <a:xfrm>
            <a:off x="220980" y="690361"/>
            <a:ext cx="3453109" cy="5600065"/>
          </a:xfrm>
          <a:prstGeom prst="roundRect">
            <a:avLst>
              <a:gd name="adj" fmla="val 9814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1"/>
          <p:cNvSpPr txBox="1">
            <a:spLocks noChangeArrowheads="1"/>
          </p:cNvSpPr>
          <p:nvPr/>
        </p:nvSpPr>
        <p:spPr bwMode="auto">
          <a:xfrm>
            <a:off x="220980" y="712586"/>
            <a:ext cx="3453109" cy="56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28:10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雅各出了別是巴，向哈蘭走去；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28:11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到了一個地方，因爲太陽落了，就在那裏過夜；他拾起那地方的一塊石頭枕在頭下，在那裏躺臥睡了。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28:12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他夢見一個梯子立在地上，梯子的頂通着天，有神的使者在梯子上，上去下來。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28:13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耶和華站在梯子以上，說，我是耶和華你祖亞伯拉罕的神，也是以撒的神；我要將你現在所躺臥之地，賜給你和你的後裔。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28:14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你的後裔必像地上的塵沙那樣多，必向東西南北開展；地上萬族必因你和你的後裔得福。</a:t>
            </a:r>
          </a:p>
        </p:txBody>
      </p:sp>
      <p:sp>
        <p:nvSpPr>
          <p:cNvPr id="9" name="Rectangle 144"/>
          <p:cNvSpPr>
            <a:spLocks noChangeArrowheads="1"/>
          </p:cNvSpPr>
          <p:nvPr/>
        </p:nvSpPr>
        <p:spPr bwMode="auto">
          <a:xfrm>
            <a:off x="3878399" y="639849"/>
            <a:ext cx="2756927" cy="27352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indent="0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壹 雅各的夢與目標</a:t>
            </a:r>
          </a:p>
          <a:p>
            <a:pPr indent="176213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夢的</a:t>
            </a: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起源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神的夢</a:t>
            </a:r>
          </a:p>
          <a:p>
            <a:pPr indent="176213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夢的</a:t>
            </a: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完成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榮耀城</a:t>
            </a:r>
          </a:p>
          <a:p>
            <a:pPr indent="176213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三 夢的</a:t>
            </a: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原則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神成就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夢的異象與經歷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人受苦並信靠神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夢是救恩的歷程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4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夢的中心是天梯</a:t>
            </a:r>
            <a:endParaRPr lang="zh-TW" altLang="en-US" sz="2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2" name="Rectangle 144"/>
          <p:cNvSpPr>
            <a:spLocks noChangeArrowheads="1"/>
          </p:cNvSpPr>
          <p:nvPr/>
        </p:nvSpPr>
        <p:spPr bwMode="auto">
          <a:xfrm>
            <a:off x="6559483" y="625764"/>
            <a:ext cx="2912792" cy="60694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marL="271463" lvl="1" indent="-271463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貳 夢的緊要與啟示</a:t>
            </a:r>
          </a:p>
          <a:p>
            <a:pPr marL="271463" lvl="1" indent="-95250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為著天地的聯結</a:t>
            </a:r>
          </a:p>
          <a:p>
            <a:pPr marL="271463" lvl="1" indent="-95250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組成聖經的要素</a:t>
            </a:r>
          </a:p>
          <a:p>
            <a:pPr marL="271463" lvl="1" indent="-271463" algn="ctr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*石頭</a:t>
            </a:r>
          </a:p>
          <a:p>
            <a:pPr marL="271463" lvl="1" indent="92075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建造神殿的基督</a:t>
            </a:r>
          </a:p>
          <a:p>
            <a:pPr marL="271463" lvl="1" indent="92075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被主變化的選民</a:t>
            </a:r>
          </a:p>
          <a:p>
            <a:pPr marL="271463" lvl="1" indent="92075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3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經歷安息的枕石</a:t>
            </a:r>
          </a:p>
          <a:p>
            <a:pPr marL="271463" lvl="1" indent="-271463" algn="ctr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*柱子</a:t>
            </a:r>
          </a:p>
          <a:p>
            <a:pPr marL="271463" lvl="1" indent="92075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4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 支撐神家的基督</a:t>
            </a:r>
          </a:p>
          <a:p>
            <a:pPr marL="271463" lvl="1" indent="-271463" algn="ctr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*澆油</a:t>
            </a:r>
          </a:p>
          <a:p>
            <a:pPr marL="271463" lvl="1" indent="92075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5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那靈作油臨及人</a:t>
            </a:r>
          </a:p>
          <a:p>
            <a:pPr marL="271463" lvl="1" indent="-271463" algn="ctr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*神家</a:t>
            </a:r>
          </a:p>
          <a:p>
            <a:pPr marL="271463" lvl="1" indent="92075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6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石頭成為神的家</a:t>
            </a:r>
          </a:p>
          <a:p>
            <a:pPr marL="271463" lvl="1" indent="268288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a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神與人相互的家</a:t>
            </a:r>
          </a:p>
          <a:p>
            <a:pPr marL="271463" lvl="1" indent="268288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b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神與人永遠安息</a:t>
            </a:r>
          </a:p>
          <a:p>
            <a:pPr marL="271463" lvl="1" indent="92075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7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召會是夢的應驗</a:t>
            </a:r>
          </a:p>
          <a:p>
            <a:pPr marL="271463" lvl="1" indent="92075" eaLnBrk="1" hangingPunct="1">
              <a:lnSpc>
                <a:spcPts val="2600"/>
              </a:lnSpc>
              <a:buClr>
                <a:srgbClr val="FFCC00"/>
              </a:buClr>
              <a:buSzPct val="100000"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8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家是神與人聯調</a:t>
            </a:r>
          </a:p>
          <a:p>
            <a:pPr marR="0" lvl="0" indent="269875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3" name="Rectangle 144"/>
          <p:cNvSpPr>
            <a:spLocks noChangeArrowheads="1"/>
          </p:cNvSpPr>
          <p:nvPr/>
        </p:nvSpPr>
        <p:spPr bwMode="auto">
          <a:xfrm>
            <a:off x="9316409" y="601803"/>
            <a:ext cx="2836949" cy="47293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marR="0" lvl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參 夢的中心與啟示</a:t>
            </a:r>
          </a:p>
          <a:p>
            <a:pPr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啟示基督為天梯</a:t>
            </a:r>
          </a:p>
          <a:p>
            <a:pPr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人子將天地相聯</a:t>
            </a:r>
          </a:p>
          <a:p>
            <a:pPr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三 基督天梯的經歷</a:t>
            </a:r>
          </a:p>
          <a:p>
            <a:pPr marR="0" lvl="0" indent="363538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進入靈裏至聖所</a:t>
            </a:r>
          </a:p>
          <a:p>
            <a:pPr marR="0" lvl="0" indent="363538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坦然來到施恩座</a:t>
            </a:r>
          </a:p>
          <a:p>
            <a:pPr marR="0" lvl="0" indent="53975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a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宇宙掌權的寶座</a:t>
            </a:r>
          </a:p>
          <a:p>
            <a:pPr marR="0" lvl="0" indent="53975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b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向人施恩的寶座</a:t>
            </a:r>
          </a:p>
          <a:p>
            <a:pPr marR="0" lvl="0" indent="53975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c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人靈是神的居所</a:t>
            </a:r>
          </a:p>
          <a:p>
            <a:pPr marR="0" lvl="0" indent="53975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d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基督使天地相聯</a:t>
            </a:r>
          </a:p>
          <a:p>
            <a:pPr marR="0" lvl="0" indent="53975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e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使人進入天的門</a:t>
            </a:r>
          </a:p>
          <a:p>
            <a:pPr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四 天梯所在的榮景</a:t>
            </a:r>
          </a:p>
          <a:p>
            <a:pPr marR="0" lvl="0" indent="176213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五 天梯終極的結果</a:t>
            </a:r>
            <a:endParaRPr lang="zh-TW" altLang="en-US" sz="2000" b="1" dirty="0">
              <a:solidFill>
                <a:srgbClr val="00FFFF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0429240" y="41275"/>
            <a:ext cx="1762760" cy="39878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秋訓</a:t>
            </a: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-06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0" y="6459855"/>
            <a:ext cx="12192000" cy="415498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0" algn="r"/>
            <a:r>
              <a:rPr lang="zh-TW" altLang="en-US" sz="2100" b="1" dirty="0">
                <a:latin typeface="Microsoft YaHei" panose="020B0503020204020204" charset="-122"/>
                <a:ea typeface="Microsoft YaHei" panose="020B0503020204020204" charset="-122"/>
              </a:rPr>
              <a:t>雅各在伯特利的夢是神的夢：基督作天梯將天地相聯；他所枕的石頭被立為柱子，要成為神的家天的門。</a:t>
            </a:r>
            <a:endParaRPr lang="zh-TW" sz="21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BA9B369-24AD-4B54-4E63-3C59BFB9F389}"/>
              </a:ext>
            </a:extLst>
          </p:cNvPr>
          <p:cNvSpPr txBox="1"/>
          <p:nvPr/>
        </p:nvSpPr>
        <p:spPr>
          <a:xfrm>
            <a:off x="2464160" y="1008772"/>
            <a:ext cx="72636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第六篇信息要點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雅各在伯特利的夢是神的夢：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基督作天梯將天地相聯；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他所枕的石頭被立為柱子，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要成為神的家天的門。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5C9E9A-5FC6-2795-B84E-D3A7B55C1BD8}"/>
              </a:ext>
            </a:extLst>
          </p:cNvPr>
          <p:cNvSpPr/>
          <p:nvPr/>
        </p:nvSpPr>
        <p:spPr bwMode="auto">
          <a:xfrm>
            <a:off x="2012373" y="699447"/>
            <a:ext cx="8046027" cy="5019857"/>
          </a:xfrm>
          <a:prstGeom prst="roundRect">
            <a:avLst/>
          </a:prstGeom>
          <a:noFill/>
          <a:ln w="38100">
            <a:solidFill>
              <a:srgbClr val="00FFFF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超研澤中特圓" pitchFamily="49" charset="-120"/>
              <a:ea typeface="超研澤中特圓" pitchFamily="49" charset="-120"/>
              <a:cs typeface="新細明體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9665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0" y="0"/>
            <a:ext cx="9923318" cy="47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indent="-1257300" eaLnBrk="1" hangingPunct="1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1" lang="zh-TW" altLang="en-US" sz="24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第七篇　</a:t>
            </a:r>
            <a:r>
              <a:rPr kumimoji="1"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蒙揀選，受對付，被破碎</a:t>
            </a:r>
          </a:p>
        </p:txBody>
      </p:sp>
      <p:sp>
        <p:nvSpPr>
          <p:cNvPr id="4" name="矩形: 圓角 2"/>
          <p:cNvSpPr>
            <a:spLocks noChangeArrowheads="1"/>
          </p:cNvSpPr>
          <p:nvPr/>
        </p:nvSpPr>
        <p:spPr bwMode="auto">
          <a:xfrm>
            <a:off x="220980" y="769779"/>
            <a:ext cx="3311525" cy="5402422"/>
          </a:xfrm>
          <a:prstGeom prst="roundRect">
            <a:avLst>
              <a:gd name="adj" fmla="val 9426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144"/>
          <p:cNvSpPr>
            <a:spLocks noChangeArrowheads="1"/>
          </p:cNvSpPr>
          <p:nvPr/>
        </p:nvSpPr>
        <p:spPr bwMode="auto">
          <a:xfrm>
            <a:off x="3805238" y="673784"/>
            <a:ext cx="2683510" cy="42292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壹 雅各蒙神的揀選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 神愛雅各而揀選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 創世前就蒙揀選 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不是本於人所行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因神憐憫與呼召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 我們也蒙神揀選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在基督裏蒙揀選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照神先見蒙揀選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是神主宰的憐憫  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神在時間裡呼召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為神創造的定旨</a:t>
            </a:r>
          </a:p>
          <a:p>
            <a:pPr indent="283210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ectangle 144"/>
          <p:cNvSpPr>
            <a:spLocks noChangeArrowheads="1"/>
          </p:cNvSpPr>
          <p:nvPr/>
        </p:nvSpPr>
        <p:spPr bwMode="auto">
          <a:xfrm>
            <a:off x="6570663" y="673784"/>
            <a:ext cx="2751137" cy="4209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indent="0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貳 雅各受神的對付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 雅各掙扎的一生 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 雅各需神的對付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在神主宰的環境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要變化為以色列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使選民變化成熟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 聖靈管治的圖畫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外在環境的管教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新造元素的建造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基督內裏的構成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神主宰一切人事</a:t>
            </a:r>
          </a:p>
          <a:p>
            <a:pPr indent="176213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144"/>
          <p:cNvSpPr>
            <a:spLocks noChangeArrowheads="1"/>
          </p:cNvSpPr>
          <p:nvPr/>
        </p:nvSpPr>
        <p:spPr bwMode="auto">
          <a:xfrm>
            <a:off x="9321800" y="663393"/>
            <a:ext cx="2952750" cy="63195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indent="0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參 雅各被神所破碎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 破碎天然的力量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外面腿筋被摸瘸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裡面生命受對付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二 破碎天然的生命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人內在所是改變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人腿瘸不再完整</a:t>
            </a:r>
          </a:p>
          <a:p>
            <a:pPr indent="176213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三 信徒需經歷破碎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要脫離魂的禁錮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為要使靈能出來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讓神生命能流露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4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全魂需破碎降服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5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破碎使香氣漫溢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6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破碎為基督安家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7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破碎為建造召會</a:t>
            </a:r>
          </a:p>
          <a:p>
            <a:pPr indent="363538" eaLnBrk="1" fontAlgn="auto" hangingPunct="1">
              <a:lnSpc>
                <a:spcPts val="27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8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破碎為產生身體</a:t>
            </a:r>
          </a:p>
          <a:p>
            <a:pPr indent="167640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indent="167640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10" name="文字方塊 1"/>
          <p:cNvSpPr txBox="1">
            <a:spLocks noChangeArrowheads="1"/>
          </p:cNvSpPr>
          <p:nvPr/>
        </p:nvSpPr>
        <p:spPr bwMode="auto">
          <a:xfrm>
            <a:off x="220981" y="836368"/>
            <a:ext cx="3268344" cy="519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羅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9:11	 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雙子還沒有生下來，善惡也沒有作出來（只因要堅定神揀選人的旨意，不是本於行爲，乃是本於那呼召人的），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31:40 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我白日受幹熱銷磨，黑夜受寒霜侵蝕，不得合眼睡着，我常是這樣。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31:41 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我這二十年在你家裏，爲你的兩個女兒服事你十四年，爲你的羊羣服事你六年，你十次改了我的工價。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32:24 …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有一個人和他摔跤，直到黎明。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32:25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那人見自己勝不過他，就將他的大腿窩摸了一把；雅各正與那人摔跤的時候，他的大腿窩就脫了節。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0429240" y="41275"/>
            <a:ext cx="1762760" cy="39878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秋訓</a:t>
            </a: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-07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35" y="6442075"/>
            <a:ext cx="12192000" cy="415498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t">
            <a:spAutoFit/>
          </a:bodyPr>
          <a:lstStyle/>
          <a:p>
            <a:pPr algn="r"/>
            <a:r>
              <a:rPr lang="zh-TW" altLang="en-US" sz="2100" b="1" dirty="0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雅各的一生是我們的命定，在創世之前蒙神所揀選，也受神的對付而破碎，至終要變化成為神的以色列。</a:t>
            </a:r>
            <a:endParaRPr lang="zh-TW" altLang="zh-CN" sz="21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BA9B369-24AD-4B54-4E63-3C59BFB9F389}"/>
              </a:ext>
            </a:extLst>
          </p:cNvPr>
          <p:cNvSpPr txBox="1"/>
          <p:nvPr/>
        </p:nvSpPr>
        <p:spPr>
          <a:xfrm>
            <a:off x="2464160" y="1008772"/>
            <a:ext cx="72636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第七篇信息要點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lvl="0" algn="ctr">
              <a:spcBef>
                <a:spcPts val="240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雅各的一生是我們的命定，</a:t>
            </a:r>
            <a:endParaRPr lang="en-US" altLang="zh-TW" sz="4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algn="ctr">
              <a:spcBef>
                <a:spcPts val="240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在創世之前蒙神所揀選，</a:t>
            </a:r>
            <a:endParaRPr lang="en-US" altLang="zh-TW" sz="4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algn="ctr">
              <a:spcBef>
                <a:spcPts val="240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也受神的對付而破碎，</a:t>
            </a:r>
            <a:endParaRPr lang="en-US" altLang="zh-TW" sz="4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algn="ctr">
              <a:spcBef>
                <a:spcPts val="240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至終要變化成為神的以色列。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5C9E9A-5FC6-2795-B84E-D3A7B55C1BD8}"/>
              </a:ext>
            </a:extLst>
          </p:cNvPr>
          <p:cNvSpPr/>
          <p:nvPr/>
        </p:nvSpPr>
        <p:spPr bwMode="auto">
          <a:xfrm>
            <a:off x="2012373" y="699447"/>
            <a:ext cx="8046027" cy="5019857"/>
          </a:xfrm>
          <a:prstGeom prst="roundRect">
            <a:avLst/>
          </a:prstGeom>
          <a:noFill/>
          <a:ln w="38100">
            <a:solidFill>
              <a:srgbClr val="00FFFF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超研澤中特圓" pitchFamily="49" charset="-120"/>
              <a:ea typeface="超研澤中特圓" pitchFamily="49" charset="-120"/>
              <a:cs typeface="新細明體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6128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0782"/>
            <a:ext cx="9459623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7425" indent="-987425" eaLnBrk="1" hangingPunct="1">
              <a:lnSpc>
                <a:spcPts val="2500"/>
              </a:lnSpc>
              <a:spcAft>
                <a:spcPts val="0"/>
              </a:spcAft>
              <a:buNone/>
              <a:defRPr/>
            </a:pPr>
            <a:r>
              <a:rPr kumimoji="1" lang="zh-TW" altLang="en-US" sz="24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第八篇　</a:t>
            </a:r>
            <a:r>
              <a:rPr kumimoji="1"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成熟的過程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0429240" y="41275"/>
            <a:ext cx="1762760" cy="39878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秋訓</a:t>
            </a: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-08</a:t>
            </a:r>
          </a:p>
        </p:txBody>
      </p:sp>
      <p:sp>
        <p:nvSpPr>
          <p:cNvPr id="2" name="矩形: 圓角 2">
            <a:extLst>
              <a:ext uri="{FF2B5EF4-FFF2-40B4-BE49-F238E27FC236}">
                <a16:creationId xmlns:a16="http://schemas.microsoft.com/office/drawing/2014/main" id="{09DEC867-56E9-8905-81CC-1B0BF6DA7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05" y="682182"/>
            <a:ext cx="3311525" cy="5511428"/>
          </a:xfrm>
          <a:prstGeom prst="roundRect">
            <a:avLst>
              <a:gd name="adj" fmla="val 9426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144">
            <a:extLst>
              <a:ext uri="{FF2B5EF4-FFF2-40B4-BE49-F238E27FC236}">
                <a16:creationId xmlns:a16="http://schemas.microsoft.com/office/drawing/2014/main" id="{A3602ADD-AD9B-C93B-C4E2-9CC19C5EC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383" y="622826"/>
            <a:ext cx="2871672" cy="57360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壹 雅各成熟的過程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</a:p>
          <a:p>
            <a:pPr indent="176213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 抓奪變化達成熟</a:t>
            </a:r>
          </a:p>
          <a:p>
            <a:pPr indent="176213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 變化成熟的意義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成熟是生命豐滿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成熟是接受管治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被神倒空並充滿</a:t>
            </a:r>
          </a:p>
          <a:p>
            <a:pPr indent="176213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 雅各成熟的啟示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失去心頭的寶貝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學知神憐憫豐足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信靠神完全安息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貳 佳偶成熟的表顯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-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歌</a:t>
            </a:r>
          </a:p>
          <a:p>
            <a:pPr marL="0"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 成為女性所羅門</a:t>
            </a:r>
          </a:p>
          <a:p>
            <a:pPr marL="0"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 成為華轎與撒冷</a:t>
            </a:r>
          </a:p>
          <a:p>
            <a:pPr marL="0"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藉著破碎與降服</a:t>
            </a:r>
          </a:p>
          <a:p>
            <a:pPr marL="0"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成為新造與聖所</a:t>
            </a:r>
          </a:p>
          <a:p>
            <a:pPr indent="36353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144">
            <a:extLst>
              <a:ext uri="{FF2B5EF4-FFF2-40B4-BE49-F238E27FC236}">
                <a16:creationId xmlns:a16="http://schemas.microsoft.com/office/drawing/2014/main" id="{B7B2F036-4857-CF46-395A-D0471B8B7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873" y="612948"/>
            <a:ext cx="2952750" cy="624260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marR="0" lvl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參 種子成熟的發展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-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彼後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 分得信心的種子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豐富需殷勤發展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各樣美德的發展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完全長大和成熟 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直到成為神的愛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 豐富進入神的國</a:t>
            </a: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肆 信徒成熟的救恩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-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來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基督天上的職事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供應公義的話語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說出公義的思想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3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執行公義的行政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享受恩典的工作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同享基督的成就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進入存留的安息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3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來到施恩的寶座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4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能吃公義的乾糧</a:t>
            </a:r>
          </a:p>
          <a:p>
            <a:pPr indent="167640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8161858-5FC9-EFFF-23F2-19592F6A07BB}"/>
              </a:ext>
            </a:extLst>
          </p:cNvPr>
          <p:cNvSpPr txBox="1"/>
          <p:nvPr/>
        </p:nvSpPr>
        <p:spPr>
          <a:xfrm>
            <a:off x="9459623" y="622826"/>
            <a:ext cx="2645786" cy="306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伍 保羅成熟的職事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-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西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使人完全與完整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對人分賜出基督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三 為人竭力的奮鬥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四 將人成熟的獻上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五 使人長到基督裏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1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基督作生命人位</a:t>
            </a:r>
          </a:p>
          <a:p>
            <a:pPr marR="0" lvl="0" indent="36353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2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成為宇宙的新人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+mn-ea"/>
            </a:endParaRPr>
          </a:p>
        </p:txBody>
      </p:sp>
      <p:sp>
        <p:nvSpPr>
          <p:cNvPr id="5" name="文字方塊 1">
            <a:extLst>
              <a:ext uri="{FF2B5EF4-FFF2-40B4-BE49-F238E27FC236}">
                <a16:creationId xmlns:a16="http://schemas.microsoft.com/office/drawing/2014/main" id="{76242B40-D476-4171-1673-6621C46DE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39" y="714335"/>
            <a:ext cx="3268344" cy="519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47:7	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約瑟領他父親雅各進去，站在法老面前，雅各就給法老祝福。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47:10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雅各又給法老祝福，就從法老面前出去了。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來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6:1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所以，我們旣離開了那論到基督之開端的話，就當竭力前進，達到完全、成熟，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西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1:28	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我們宣揚祂，是用全般的智慧警戒各人，教導各人，好將各人在基督裏成熟的獻上；</a:t>
            </a:r>
          </a:p>
          <a:p>
            <a:pPr indent="0" algn="just" fontAlgn="auto" latinLnBrk="0">
              <a:lnSpc>
                <a:spcPts val="22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弗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4:14	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使我們不再作小孩子，爲波浪漂來漂去，並爲一切教訓之風所搖蕩，這教訓是在於人的欺騙手法，在於將人引入錯謬系統的詭詐作爲；</a:t>
            </a:r>
          </a:p>
        </p:txBody>
      </p:sp>
      <p:sp>
        <p:nvSpPr>
          <p:cNvPr id="10" name="文本框 16">
            <a:extLst>
              <a:ext uri="{FF2B5EF4-FFF2-40B4-BE49-F238E27FC236}">
                <a16:creationId xmlns:a16="http://schemas.microsoft.com/office/drawing/2014/main" id="{83C097A8-5E0B-B8B3-116D-4BD1FA8FAEC2}"/>
              </a:ext>
            </a:extLst>
          </p:cNvPr>
          <p:cNvSpPr txBox="1"/>
          <p:nvPr/>
        </p:nvSpPr>
        <p:spPr>
          <a:xfrm>
            <a:off x="635" y="6442075"/>
            <a:ext cx="12192000" cy="415498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t">
            <a:spAutoFit/>
          </a:bodyPr>
          <a:lstStyle/>
          <a:p>
            <a:pPr algn="r"/>
            <a:r>
              <a:rPr lang="zh-TW" altLang="en-US" sz="2100" b="1" dirty="0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要變化為成熟的以色列，就是基督的複製與翻版，就需在信與話上增長成熟，至終成為一個宇宙的新人。</a:t>
            </a:r>
            <a:endParaRPr lang="zh-TW" altLang="zh-CN" sz="21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BA9B369-24AD-4B54-4E63-3C59BFB9F389}"/>
              </a:ext>
            </a:extLst>
          </p:cNvPr>
          <p:cNvSpPr txBox="1"/>
          <p:nvPr/>
        </p:nvSpPr>
        <p:spPr>
          <a:xfrm>
            <a:off x="2133600" y="1008772"/>
            <a:ext cx="785206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第八篇信息要點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要變化為成熟的以色列，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就是基督的複製與翻版，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就需在信與話上增長成熟，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至終長成一個宇宙的新人。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5C9E9A-5FC6-2795-B84E-D3A7B55C1BD8}"/>
              </a:ext>
            </a:extLst>
          </p:cNvPr>
          <p:cNvSpPr/>
          <p:nvPr/>
        </p:nvSpPr>
        <p:spPr bwMode="auto">
          <a:xfrm>
            <a:off x="1776845" y="699447"/>
            <a:ext cx="8281555" cy="5019857"/>
          </a:xfrm>
          <a:prstGeom prst="roundRect">
            <a:avLst/>
          </a:prstGeom>
          <a:noFill/>
          <a:ln w="38100">
            <a:solidFill>
              <a:srgbClr val="00FFFF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超研澤中特圓" pitchFamily="49" charset="-120"/>
              <a:ea typeface="超研澤中特圓" pitchFamily="49" charset="-120"/>
              <a:cs typeface="新細明體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7564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0782"/>
            <a:ext cx="9459623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7425" indent="-987425" eaLnBrk="1" hangingPunct="1">
              <a:lnSpc>
                <a:spcPts val="2500"/>
              </a:lnSpc>
              <a:spcAft>
                <a:spcPts val="0"/>
              </a:spcAft>
              <a:buNone/>
              <a:defRPr/>
            </a:pPr>
            <a:r>
              <a:rPr kumimoji="1" lang="zh-TW" altLang="en-US" sz="24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第九篇　</a:t>
            </a:r>
            <a:r>
              <a:rPr kumimoji="1"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+mn-ea"/>
              </a:rPr>
              <a:t>祝福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0429240" y="41275"/>
            <a:ext cx="1762760" cy="39878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秋訓</a:t>
            </a:r>
            <a:r>
              <a:rPr lang="en-US" altLang="zh-TW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-09</a:t>
            </a:r>
          </a:p>
        </p:txBody>
      </p:sp>
      <p:sp>
        <p:nvSpPr>
          <p:cNvPr id="2" name="矩形: 圓角 2">
            <a:extLst>
              <a:ext uri="{FF2B5EF4-FFF2-40B4-BE49-F238E27FC236}">
                <a16:creationId xmlns:a16="http://schemas.microsoft.com/office/drawing/2014/main" id="{09DEC867-56E9-8905-81CC-1B0BF6DA7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05" y="764678"/>
            <a:ext cx="3311525" cy="5346435"/>
          </a:xfrm>
          <a:prstGeom prst="roundRect">
            <a:avLst>
              <a:gd name="adj" fmla="val 9426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144">
            <a:extLst>
              <a:ext uri="{FF2B5EF4-FFF2-40B4-BE49-F238E27FC236}">
                <a16:creationId xmlns:a16="http://schemas.microsoft.com/office/drawing/2014/main" id="{A3602ADD-AD9B-C93B-C4E2-9CC19C5EC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29" y="601330"/>
            <a:ext cx="2765425" cy="58835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壹 生命滿溢的祝福</a:t>
            </a:r>
          </a:p>
          <a:p>
            <a:pPr indent="17938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 對三一神的經歷</a:t>
            </a:r>
          </a:p>
          <a:p>
            <a:pPr indent="35718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行事在父的面前</a:t>
            </a:r>
          </a:p>
          <a:p>
            <a:pPr indent="35718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一生受靈的牧養</a:t>
            </a:r>
          </a:p>
          <a:p>
            <a:pPr indent="35718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患難受子的救贖</a:t>
            </a:r>
          </a:p>
          <a:p>
            <a:pPr indent="17938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 將三一神祝福人</a:t>
            </a:r>
            <a:endParaRPr lang="en-US" altLang="zh-TW" sz="2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fontAlgn="auto" hangingPunct="1">
              <a:lnSpc>
                <a:spcPts val="2600"/>
              </a:lnSpc>
              <a:spcBef>
                <a:spcPts val="120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貳 成熟之人的祝福</a:t>
            </a:r>
          </a:p>
          <a:p>
            <a:pPr indent="17938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 神要藉人作管道</a:t>
            </a:r>
          </a:p>
          <a:p>
            <a:pPr indent="17938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 生命成熟的滿溢</a:t>
            </a:r>
            <a:endParaRPr lang="en-US" altLang="zh-TW" sz="20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fontAlgn="auto" hangingPunct="1">
              <a:lnSpc>
                <a:spcPts val="2600"/>
              </a:lnSpc>
              <a:spcBef>
                <a:spcPts val="120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叁 生命成熟的掌權</a:t>
            </a:r>
          </a:p>
          <a:p>
            <a:pPr indent="17938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 掌權是基督構成</a:t>
            </a:r>
          </a:p>
          <a:p>
            <a:pPr indent="179388" eaLnBrk="1" fontAlgn="auto" hangingPunct="1">
              <a:lnSpc>
                <a:spcPts val="26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 掌權是主的同在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肆 祝福是成熟標記</a:t>
            </a:r>
          </a:p>
          <a:p>
            <a:pPr marL="0"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 尊優對卑小祝福</a:t>
            </a:r>
          </a:p>
          <a:p>
            <a:pPr marL="0"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 雅各成熟的祝福</a:t>
            </a:r>
          </a:p>
          <a:p>
            <a:pPr indent="179388" eaLnBrk="1" fontAlgn="auto" hangingPunct="1">
              <a:lnSpc>
                <a:spcPts val="2800"/>
              </a:lnSpc>
              <a:spcBef>
                <a:spcPts val="0"/>
              </a:spcBef>
              <a:buClr>
                <a:srgbClr val="FFCC00"/>
              </a:buClr>
              <a:buSzPct val="100000"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144">
            <a:extLst>
              <a:ext uri="{FF2B5EF4-FFF2-40B4-BE49-F238E27FC236}">
                <a16:creationId xmlns:a16="http://schemas.microsoft.com/office/drawing/2014/main" id="{B7B2F036-4857-CF46-395A-D0471B8B7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873" y="591452"/>
            <a:ext cx="2952750" cy="53769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1pPr>
            <a:lvl2pPr marL="1778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2pPr>
            <a:lvl3pPr marL="4445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標楷體" panose="03000509000000000000" pitchFamily="65" charset="-120"/>
              </a:defRPr>
            </a:lvl9pPr>
          </a:lstStyle>
          <a:p>
            <a:pPr marR="0" lvl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伍 向人祝福的原則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 照著基督的度量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 依據基督的親疏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三 根據基督的富足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四 供應基督的豐餘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ts val="26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陸 麥基洗德的祝福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 祭司將神帶給人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 祭司需先親近神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三 祭司使人親近神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四 祭司帶人享受神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柒 舊約祭司的祝福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有父赐福與保護 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有子面光與恩典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三 有靈同在與平安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8161858-5FC9-EFFF-23F2-19592F6A07BB}"/>
              </a:ext>
            </a:extLst>
          </p:cNvPr>
          <p:cNvSpPr txBox="1"/>
          <p:nvPr/>
        </p:nvSpPr>
        <p:spPr>
          <a:xfrm>
            <a:off x="9459623" y="601330"/>
            <a:ext cx="2572616" cy="571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捌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 新約保羅的祝福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使人享受三一神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慈愛恩典與交通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三 三個階段的享受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四 源頭流道與傳輸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五 三一正確的領會</a:t>
            </a: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玖 雅各對人的祝福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性情轉變的祝福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位分尊大的祝福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三 生命成熟的祝福</a:t>
            </a: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拾 神人豫言的祝福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一 他認識神的定旨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二 他認識人的實情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三 他有基督的豐富</a:t>
            </a:r>
          </a:p>
          <a:p>
            <a:pPr marR="0" lvl="0" indent="179388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rPr>
              <a:t>四 他的靈剛強活耀</a:t>
            </a:r>
          </a:p>
          <a:p>
            <a:pPr marR="0" lvl="0" indent="176213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100000"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+mn-ea"/>
            </a:endParaRPr>
          </a:p>
        </p:txBody>
      </p:sp>
      <p:sp>
        <p:nvSpPr>
          <p:cNvPr id="5" name="文字方塊 1">
            <a:extLst>
              <a:ext uri="{FF2B5EF4-FFF2-40B4-BE49-F238E27FC236}">
                <a16:creationId xmlns:a16="http://schemas.microsoft.com/office/drawing/2014/main" id="{76242B40-D476-4171-1673-6621C46DE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05" y="823479"/>
            <a:ext cx="3268344" cy="476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E5E5FF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 fontAlgn="auto" latinLnBrk="0">
              <a:lnSpc>
                <a:spcPts val="23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47:7	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約瑟領他父親雅各進去，站在法老面前，雅各就給法老祝福。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0" algn="just" fontAlgn="auto" latinLnBrk="0">
              <a:lnSpc>
                <a:spcPts val="23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48:15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他就給約瑟祝福說，願我祖亞伯拉罕和我父以撒行事爲人都在祂面前的神，就是一生牧養我直到今日的神，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0" algn="just" fontAlgn="auto" latinLnBrk="0">
              <a:lnSpc>
                <a:spcPts val="23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來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7:7	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向來都是卑小的蒙尊優的祝福。</a:t>
            </a:r>
          </a:p>
          <a:p>
            <a:pPr indent="0" algn="just" fontAlgn="auto" latinLnBrk="0">
              <a:lnSpc>
                <a:spcPts val="23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來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11:21</a:t>
            </a: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雅各因着信，臨死的時候，給約瑟的兩個兒子各自祝福，並且扶着杖頭敬拜神。</a:t>
            </a:r>
          </a:p>
          <a:p>
            <a:pPr indent="0" algn="just" fontAlgn="auto" latinLnBrk="0">
              <a:lnSpc>
                <a:spcPts val="2300"/>
              </a:lnSpc>
              <a:spcBef>
                <a:spcPts val="300"/>
              </a:spcBef>
              <a:buClrTx/>
              <a:buSzTx/>
              <a:buNone/>
            </a:pPr>
            <a:r>
              <a:rPr lang="zh-TW" altLang="en-US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林後</a:t>
            </a:r>
            <a:r>
              <a:rPr lang="en-US" altLang="zh-TW" sz="2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13:14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願主耶穌基督的恩，神的愛，聖靈的交通，與你們眾人同在</a:t>
            </a:r>
          </a:p>
          <a:p>
            <a:pPr indent="0" algn="just" fontAlgn="auto" latinLnBrk="0">
              <a:lnSpc>
                <a:spcPts val="2300"/>
              </a:lnSpc>
              <a:spcBef>
                <a:spcPts val="300"/>
              </a:spcBef>
              <a:buClrTx/>
              <a:buSzTx/>
              <a:buNone/>
            </a:pPr>
            <a:endParaRPr lang="zh-TW" alt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本框 16">
            <a:extLst>
              <a:ext uri="{FF2B5EF4-FFF2-40B4-BE49-F238E27FC236}">
                <a16:creationId xmlns:a16="http://schemas.microsoft.com/office/drawing/2014/main" id="{83C097A8-5E0B-B8B3-116D-4BD1FA8FAEC2}"/>
              </a:ext>
            </a:extLst>
          </p:cNvPr>
          <p:cNvSpPr txBox="1"/>
          <p:nvPr/>
        </p:nvSpPr>
        <p:spPr>
          <a:xfrm>
            <a:off x="635" y="6442075"/>
            <a:ext cx="12192000" cy="415498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t">
            <a:spAutoFit/>
          </a:bodyPr>
          <a:lstStyle/>
          <a:p>
            <a:pPr algn="r"/>
            <a:r>
              <a:rPr lang="zh-TW" altLang="en-US" sz="2100" b="1" dirty="0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祝福是生命滿溢的流露，是對人供應基督的富餘，為此我們需在生命裡尊優成熟，將神聖的福分祝福人。</a:t>
            </a:r>
            <a:endParaRPr lang="zh-TW" altLang="zh-CN" sz="21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7188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BA9B369-24AD-4B54-4E63-3C59BFB9F389}"/>
              </a:ext>
            </a:extLst>
          </p:cNvPr>
          <p:cNvSpPr txBox="1"/>
          <p:nvPr/>
        </p:nvSpPr>
        <p:spPr>
          <a:xfrm>
            <a:off x="2133600" y="1008772"/>
            <a:ext cx="785206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第九篇信息要點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祝福是生命滿溢的流露，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是對人供應基督的富餘，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為此我們需在生命裡尊優成熟，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將神聖的福分祝福人。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5C9E9A-5FC6-2795-B84E-D3A7B55C1BD8}"/>
              </a:ext>
            </a:extLst>
          </p:cNvPr>
          <p:cNvSpPr/>
          <p:nvPr/>
        </p:nvSpPr>
        <p:spPr bwMode="auto">
          <a:xfrm>
            <a:off x="1776845" y="699447"/>
            <a:ext cx="8281555" cy="5019857"/>
          </a:xfrm>
          <a:prstGeom prst="roundRect">
            <a:avLst/>
          </a:prstGeom>
          <a:noFill/>
          <a:ln w="38100">
            <a:solidFill>
              <a:srgbClr val="00FFFF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超研澤中特圓" pitchFamily="49" charset="-120"/>
              <a:ea typeface="超研澤中特圓" pitchFamily="49" charset="-120"/>
              <a:cs typeface="新細明體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8733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DAB2F86-7E52-7E66-EFA6-8D53705E8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8" y="817124"/>
            <a:ext cx="6157494" cy="597278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BF176EC-2037-C5DE-CBB2-06044D7AB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80" y="817124"/>
            <a:ext cx="6314839" cy="604087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9AB6861-399B-D70B-6EFE-1D796276B18B}"/>
              </a:ext>
            </a:extLst>
          </p:cNvPr>
          <p:cNvSpPr txBox="1"/>
          <p:nvPr/>
        </p:nvSpPr>
        <p:spPr>
          <a:xfrm>
            <a:off x="5022252" y="138422"/>
            <a:ext cx="24489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约瑟的歌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/>
              <a:ea typeface="新細明體"/>
              <a:cs typeface="+mn-cs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984E6A7-FEF7-AAFC-CDB2-7310B4827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864" y="0"/>
            <a:ext cx="1810908" cy="10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2682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hkNzRiZmM2NTRlZmE5MjY0Y2ZhNDNmNWZlOGU3M2YifQ=="/>
  <p:tag name="KSO_WPP_MARK_KEY" val="97e1d04d-06d7-49d8-93eb-51da8cf5648f"/>
</p:tagLst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新細明體"/>
        <a:cs typeface=""/>
      </a:majorFont>
      <a:minorFont>
        <a:latin typeface="Garamond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超研澤中特圓" pitchFamily="49" charset="-120"/>
            <a:ea typeface="超研澤中特圓" pitchFamily="49" charset="-120"/>
            <a:cs typeface="新細明體" panose="02020500000000000000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超研澤中特圓" pitchFamily="49" charset="-120"/>
            <a:ea typeface="超研澤中特圓" pitchFamily="49" charset="-120"/>
            <a:cs typeface="新細明體" panose="02020500000000000000" charset="-12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新細明體"/>
        <a:cs typeface=""/>
      </a:majorFont>
      <a:minorFont>
        <a:latin typeface="Garamond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52213</TotalTime>
  <Words>4332</Words>
  <Application>Microsoft Office PowerPoint</Application>
  <PresentationFormat>寬螢幕</PresentationFormat>
  <Paragraphs>508</Paragraphs>
  <Slides>21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21</vt:i4>
      </vt:variant>
    </vt:vector>
  </HeadingPairs>
  <TitlesOfParts>
    <vt:vector size="30" baseType="lpstr">
      <vt:lpstr>Microsoft YaHei</vt:lpstr>
      <vt:lpstr>超研澤中特圓</vt:lpstr>
      <vt:lpstr>微軟正黑體</vt:lpstr>
      <vt:lpstr>Arial</vt:lpstr>
      <vt:lpstr>Calibri</vt:lpstr>
      <vt:lpstr>Garamond</vt:lpstr>
      <vt:lpstr>Wingdings</vt:lpstr>
      <vt:lpstr>Stream</vt:lpstr>
      <vt:lpstr>2_Stream</vt:lpstr>
      <vt:lpstr>秋季長老同工訓練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國殤節特會 美國 網上特會</dc:title>
  <dc:creator>建 徐熊</dc:creator>
  <cp:lastModifiedBy>User</cp:lastModifiedBy>
  <cp:revision>272</cp:revision>
  <dcterms:created xsi:type="dcterms:W3CDTF">2021-05-07T08:39:00Z</dcterms:created>
  <dcterms:modified xsi:type="dcterms:W3CDTF">2026-10-19T02:20:58Z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65BD94B871904A3194CC241B2918BCD0_12</vt:lpwstr>
  </property>
</Properties>
</file>